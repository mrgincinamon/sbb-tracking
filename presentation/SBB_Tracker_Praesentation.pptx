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Begrüssung: Wer wir sind. Wir analysieren die Pünktlichkeit der SBB auf Basis von 2.74 Mio echten Zug-Halten über 48 Betriebstage. Ziel: aus offenen Daten belastbare, ehrliche Aussagen ableiten.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Kurzer Fahrplan. Schwerpunkt liegt auf den Ergebnissen und der Live-Demo der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Schlagzeile '92.5% pünktlich' verdeckt grosse Unterschiede nach Tag, Linientyp und Ort. Unsere vier Forschungsfragen zerlegen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haben uns bewusst für Auflösung statt Zeitspanne entschieden: 48 Tage hochaufgelöst statt Jahre an Aggregaten. Die Volldaten 2019–2025 wären 1.1 TB. Wir haben ausserdem korrupte Zeitstempel sauber gefiltert.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Wir berichten nicht nur p-Werte, sondern Effektstärken — bei 2.7 Mio Beobachtungen ist sonst alles 'signifikant'. Wir prüfen auch Robustheit und Regressions-Annahmen.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Werktage sind ~15s unpünktlicher — hochsignifikant, aber d=0.12 ist klein. Das ist unsere Kernbotschaft: statistische ≠ praktische Signifikanz. Der Tagesmittel-Test zeigt: der Effekt ist echt, kein Artefakt der Stichprobe.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Linientyp ist hochsignifikant, η²≈0.04 ist aber klein. Die Story: Internationale Züge (TGV, EC, RailJet) sammeln im Ausland Verspätung und bringen sie in die Schweiz. Innerschweizer IC/IR sind sehr pünktlich (~30s).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Wetter wirkt in die erwartete Richtung (mehr Regen → mehr Verspätung), aber der Effekt ist praktisch vernachlässigbar. Wieder: Signifikanz wegen n, nicht wegen Relevanz. Wir zeigen das ehrlich.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gemeinsame Modell erklärt nur ~4.3% der Varianz. Das ist eine EHRLICHE Erkenntnis: Verspätungen sind dominant idiosynkratisch (Defekte, Einzelereignisse). Die Residuen zeigen Heteroskedastizität — wir benennen das offen. Vorzeichen/Grössen der Effekte sind plausibel.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Heatmap zeigt, wann es kritisch wird: morgens und abends an Werktagen. Diese Erkenntnis fliesst direkt in die Webapp 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LIVE-DEMO ANSAGEN: Hier die interaktive Karte. Ich schiebe gleich den Hotspot-Regler hoch — dann bleiben nur die Verspätungs-Hotspots übrig, v.a. Grenzbahnhöfe wie Buchs SG und St. Margrethen. (In der Demo live zeigen.)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Zweite Demo: der LLM-Pendler-Berater. Wichtig — er antwortet nur auf Basis unserer Statistik-Daten (kein Halluzinieren). Beispiel-Frage live stellen, z.B. 'Wann erwische ich am ehesten einen pünktlichen Zug?'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LLM liefert plausible Ursachen-Hypothesen für die schlimmsten Tage. Wir kommunizieren transparent, dass das Hypothesen sind, keine verifizierten Fakten — das ist methodisch sauber.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sind bei den Limitationen bewusst transparent — das ist ein Plus. Wichtigster Punkt: die Beobachtungen sind nicht unabhängig; wir adressieren das mit dem Robustheitstest und dem Effektstärken-Fokus.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Take-aways: Die SBB ist sehr pünktlich; die messbaren Effekte sind klein; Verspätung ist grösstenteils Zufall/Einzelereignisse. Unser ehrlicher Umgang mit kleinen Effekten und Limitationen ist die methodische Stärke der Arbeit.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Alles ist öffentlich und reproduzierbar. Abschluss + Überleitung zu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SBB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EB0000"/>
                </a:solidFill>
                <a:latin typeface="Segoe UI"/>
              </a:rPr>
              <a:t>Pünktlichkeitsanalyse der Schweizerischen Bundesbahnen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CCCCC"/>
                </a:solidFill>
                <a:latin typeface="Segoe UI"/>
              </a:rPr>
              <a:t>Datengetriebene Analyse von 2.74 Mio Zug-Halten · April–Mai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Joël Hasler &amp; Patrick Ferreira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AAAAAA"/>
                </a:solidFill>
                <a:latin typeface="Segoe UI"/>
              </a:rPr>
              <a:t>ZHAW Scientific Programming · FS2026 · Dozent: Mario Gellrich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Motivation &amp; Forschungsfragen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Datengrundlage &amp; Design-Entscheidung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Methodik: 4 statistische Tests + LLM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Ergebnisse (mit Effektstärken)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Interaktive Webapp (Live-Demo)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A1A1A"/>
                </a:solidFill>
                <a:latin typeface="Segoe UI"/>
              </a:rPr>
              <a:t>•  Limitationen &amp; Schlussfolgerungen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Motivation &amp; Forschungsfragen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Die offizielle SBB-Pünktlichkeit (92.5 %) ist ein Aggregat — für die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Segoe UI"/>
              </a:rPr>
              <a:t>•  individuelle Reiseplanung wenig hilfreich. Wir gehen ins Detail: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F1: Sind Werktage unpünktlicher als Wochenenden?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F2: Beeinflusst der Linientyp (S, IC, IR …) die Verspätung?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F3: Korreliert Wetter (Regen, Temperatur) mit Verspätung?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F4: Welche Faktoren erklären Verspätung gemeinsam (Regression)?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Datengrundlage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2'739'734 Zug-Halte (SBB, Status REAL) über 48 Betriebstage (2026-03-31 – 2026-05-19)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3 offene Quellen: opentransportdata.swiss (Ist-Daten), data.sbb.ch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(Bahnhof-Stammdaten), MeteoSchweiz (stündliches Wetter, 15 Stationen)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Design-Entscheidung: hohe Auflösung statt langer Zeitspanne —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48 Tage pro Zug-Halt (~85 Mio Datenpunkte) statt Jahres-Aggregate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ermöglicht Stunden-, Bahnhof- und Wetter-Analysen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Datenbereinigung: 70 physikalisch unmögliche Verspätungen (korrupte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Quell-Zeitstempel) entfernt; Filter auf gemessene Ist-Ankünfte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Methodik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Pipeline: Download → SQLite-DB (3 Tabellen, SQL) → Aufbereitung →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Feature-Engineering (Zeit + Wetter via cos-korrigiertem KDTree)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A1A"/>
                </a:solidFill>
                <a:latin typeface="Segoe UI"/>
              </a:rPr>
              <a:t>•  4 statistische Tests, jeweils mit p-Wert UND Effektstärke: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Welch's t-Test (+ Mann-Whitney, + Tagesmittel-Robustheit)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Einweg-ANOVA + Tukey-HSD Post-hoc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Pearson &amp; Spearman Korrelation (+ 95%-CI)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Multiple OLS-Regression (+ Breusch-Pagan, VIF, Residuen)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LLM (Claude Sonnet 4.6) für qualitative Krisen-Tag-Hypothesen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Tech: pandas · scipy · statsmodels · folium · streamlit · sqlite3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F1 — Werktag vs. Wochenende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Werktag 50.1 s  vs.  Wochenende 34.6 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Welch's t = 95.0, p &lt; 10⁻³⁰⁰ (hochsignifikant)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Differenz 15.5 s, 95%-CI [15.2, 15.8] 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ABER Effektstärke Cohen's d = 0.12 → praktisch KLEIN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Robustheit: Effekt überlebt auf 48 Tagesmitteln (nicht bloss n-Artefakt)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Mann-Whitney-U bestätigt verteilungsfrei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F2 — Linientyp (ANOVA)</a:t>
            </a:r>
          </a:p>
        </p:txBody>
      </p:sp>
      <p:pic>
        <p:nvPicPr>
          <p:cNvPr id="4" name="Picture 3" descr="03_analyse_visualisierung_cell21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234" y="1325880"/>
            <a:ext cx="973322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ANOVA F = 8'450.0, p &lt; 10⁻³⁰⁰, η² = 0.039 (klein) · Internationale Züge (TGV/EC/RJX) importieren Verspätung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F3 — Wetter ↔ Verspätung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Niederschlag: Pearson r = 0.0218 (p &lt; 10⁻²⁸⁶)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Sonne r = -0.0368 · Feuchte r = 0.0304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Alle hochsignifikant — aber |r| &lt; 0.04: inhaltlich TRIVIAL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Spearman ≈ Pearson → Zusammenhänge schwach &amp; überwiegend monoton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Wetter erklärt allein &lt; 0.3 % der Verspätungsvarianz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Lehrstück: riesige Stichprobe macht winzige Effekte 'signifikant'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Ergebnis F4 — Multiple OLS-Regression</a:t>
            </a:r>
          </a:p>
        </p:txBody>
      </p:sp>
      <p:pic>
        <p:nvPicPr>
          <p:cNvPr id="4" name="Picture 3" descr="03_analyse_visualisierung_cell30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975" y="1325880"/>
            <a:ext cx="849174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R² = 0.0430 (4.3 %) · Rush-Hour +10 s · Wochenende −12 s · Diagnostik: heteroskedastisch (Breusch-Pagan), VIF unauffällig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Zeitliches Muster — Stunde × Wochentag</a:t>
            </a:r>
          </a:p>
        </p:txBody>
      </p:sp>
      <p:pic>
        <p:nvPicPr>
          <p:cNvPr id="4" name="Picture 3" descr="03_analyse_visualisierung_cell33_plo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25880"/>
            <a:ext cx="1060704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Mittlere Verspätung pro Wochentag und Stunde — Rush-Hour-Effekt sichtbar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Webapp — Verspätungs-Hotspots auf der Karte</a:t>
            </a:r>
          </a:p>
        </p:txBody>
      </p:sp>
      <p:pic>
        <p:nvPicPr>
          <p:cNvPr id="4" name="Picture 3" descr="webapp_01_ka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43" y="1325880"/>
            <a:ext cx="76078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Folium-Karte · Farbe = Ø-Verspätung · Hotspot-Regler isoliert die Grenzbahnhöfe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Webapp — Time-of-Day &amp; Pendler-Insight (LLM)</a:t>
            </a:r>
          </a:p>
        </p:txBody>
      </p:sp>
      <p:pic>
        <p:nvPicPr>
          <p:cNvPr id="4" name="Picture 3" descr="webapp_03_pendler_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43" y="1325880"/>
            <a:ext cx="760780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Segoe UI"/>
              </a:rPr>
              <a:t>LLM-Berater beantwortet Pendler-Fragen ausschliesslich aus den Projektdaten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LLM-Analyse — Krisen-Tage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Claude Sonnet 4.6 klassifiziert die 10 verspätungsreichsten Tage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Feste Taxonomie (Wetter, Rush-Hour, Bahnhof-Ausfall, Bauarbeiten …)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Temperatur 0.2 + Anweisung 'erfinde NICHTS' + Konfidenz-Skala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Ehrlich: keine Ground-Truth-Validierung — qualitative Hypothesen,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geplant: Abgleich mit Factiva-News als Validierung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Limitationen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Nicht-Unabhängigkeit: Halte sind geschachtelt (Pseudoreplikation) →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Segoe UI"/>
              </a:rPr>
              <a:t>•  begegnet mit Tagesmittel-Robustheit + Fokus auf Effektstärken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Zeitraum 48 Tage (Frühjahr) — keine Saisonalität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Nur SBB; Wetter-Distanz bis ~40 km (Mikroklima verloren)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Heteroskedastizität in OLS; Bonferroni α=0.0125 (alle Tests bestehen)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Korrelation ≠ Kausalität (Confounder, z.B. Sturm + Bauarbeiten)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Schlussfolgerungen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SBB-Pünktlichkeit ist hoch (~95 % unter 3 Min) und räumlich robust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Werktag-, Linientyp- und Wetter-Effekte sind real, aber praktisch klein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Verspätung ist dominant idiosynkratisch (R² nur ~4 %) — ehrlich beziffert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Hotspots sind Grenzbahnhöfe (Import-Effekt internationaler Züge)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Mehrwert: interaktive Webapp + LLM machen die Daten zugänglich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EB0000"/>
                </a:solidFill>
                <a:latin typeface="Segoe UI"/>
              </a:rPr>
              <a:t>Quellen, Code &amp; Reproduzierbarkeit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521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Daten: opentransportdata.swiss · data.sbb.ch · MeteoSchweiz (CC-BY)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Code (MIT): github.com/Mrgincinamon/SBB-Tracking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Reproduzierbar: requirements.txt + venv + Build-Skripte für Notebooks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Stack: Python 3.12 · pandas/scipy/statsmodels · SQLite · Streamlit · Anthropic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Segoe UI"/>
              </a:rPr>
              <a:t>•  Danke — Fragen?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