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72" r:id="rId12"/>
    <p:sldId id="273" r:id="rId13"/>
    <p:sldId id="274" r:id="rId14"/>
    <p:sldId id="275" r:id="rId15"/>
    <p:sldId id="276" r:id="rId16"/>
    <p:sldId id="277" r:id="rId17"/>
    <p:sldId id="266" r:id="rId18"/>
    <p:sldId id="267" r:id="rId19"/>
    <p:sldId id="268" r:id="rId20"/>
    <p:sldId id="269" r:id="rId21"/>
    <p:sldId id="270" r:id="rId22"/>
    <p:sldId id="27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8" d="100"/>
          <a:sy n="88" d="100"/>
        </p:scale>
        <p:origin x="378" y="6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295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«Grüezi, wir sind Joël und Patrick. Wir haben die Pünktlichkeit der SBB datengetrieben untersucht — auf Basis von 2.74 Millionen echten Zug-Halten über 48 Tage. Unser Ziel war, aus offenen Daten ehrliche, belastbare Aussagen abzuleiten.»</a:t>
            </a:r>
          </a:p>
          <a:p>
            <a:endParaRPr/>
          </a:p>
          <a:p>
            <a:r>
              <a:t>ORGANISATION: Legt vorher fest, wer welche Slides spricht (z. B. Joël 1–8, Patrick 9–16) und nennt es kurz. In der Referentenansicht von PowerPoint seht ihr diese Notizen, das Publikum nicht.</a:t>
            </a:r>
          </a:p>
          <a:p>
            <a:endParaRPr/>
          </a:p>
          <a:p>
            <a:r>
              <a:t>TON: ruhig, nicht auswendig runterleiern. Die Kernbotschaft des ganzen Projekts ist: Die Effekte sind statistisch klar, aber praktisch klein — und wir gehen ehrlich damit um.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«Kurz der Fahrplan: erst das Warum und die Datenbasis, dann die Methodik, dann die Ergebnisse, eine Live-Demo, und am Schluss ehrlich die Grenzen.»</a:t>
            </a:r>
          </a:p>
          <a:p>
            <a:endParaRPr/>
          </a:p>
          <a:p>
            <a:r>
              <a:t>Nicht vorlesen — nur in einem Satz überfliegen. Schwerpunkt ansagen: Ergebnisse und Demo.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«Die SBB nennt eine Gesamt-Pünktlichkeit von 92.5 Prozent. Das ist ein Durchschnitt über alles und sagt mir wenig, wenn ich wissen will, wann und wo es konkret hakt. Deshalb diese vier Fragen.»</a:t>
            </a:r>
          </a:p>
          <a:p>
            <a:endParaRPr/>
          </a:p>
          <a:p>
            <a:r>
              <a:t>HINTERGRUND, falls gefragt: 'Pünktlich' heisst bei der SBB &lt;3 Minuten Verspätung. Genau diese 3-Minuten-Schwelle benutzen wir auch.</a:t>
            </a:r>
          </a:p>
          <a:p>
            <a:endParaRPr/>
          </a:p>
          <a:p>
            <a:r>
              <a:t>Die vier Fragen sind unser roter Faden — jede wird später mit einem eigenen Test beantwortet.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«Basis sind 2.74 Millionen einzelne Zug-Halte über 48 Tage, aus drei offenen Quellen. Wir haben uns bewusst für Detailtiefe statt lange Zeitspanne entschieden: lieber 48 Tage ganz fein als Jahre an groben Summen — nur so kann man nach Stunde, Bahnhof und Wetter auswerten.»</a:t>
            </a:r>
          </a:p>
          <a:p>
            <a:endParaRPr/>
          </a:p>
          <a:p>
            <a:r>
              <a:t>BEGRIFFE EINFACH:</a:t>
            </a:r>
          </a:p>
          <a:p>
            <a:r>
              <a:t>• 'Halt' = ein einzelner Halt eines Zuges an einem Bahnhof. Ein Zug auf seiner Fahrt erzeugt viele Halte.</a:t>
            </a:r>
          </a:p>
          <a:p>
            <a:r>
              <a:t>• 'Status REAL' = tatsächlich gemessene Ankunftszeit (keine Prognose).</a:t>
            </a:r>
          </a:p>
          <a:p>
            <a:r>
              <a:t>• 'Betriebstag' = der Fahrplantag; ein Nachtzug um 00:30 zählt zum Vortag.</a:t>
            </a:r>
          </a:p>
          <a:p>
            <a:endParaRPr/>
          </a:p>
          <a:p>
            <a:r>
              <a:t>MÖGLICHE FRAGE: 'Warum nur 48 Tage?' — Die kompletten Daten von 2019–2025 wären rund 1.1 Terabyte. 48 Tage in voller Auflösung sind aussagekräftiger für unsere Fragen als grobe Jahres-Aggregate.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«Die Daten laufen durch eine Pipeline in eine SQLite-Datenbank und werden pro Halt um Zeit- und Wetter-Infos ergänzt. Darauf rechnen wir vier Tests. Wichtig: Wir berichten nie nur den p-Wert, sondern immer auch die Effektstärke.»</a:t>
            </a:r>
          </a:p>
          <a:p>
            <a:endParaRPr/>
          </a:p>
          <a:p>
            <a:r>
              <a:t>DAS WICHTIGSTE KONZEPT (unbedingt verstehen):</a:t>
            </a:r>
          </a:p>
          <a:p>
            <a:r>
              <a:t>• p-Wert = Wie wahrscheinlich wäre dieses Ergebnis, wenn es in Wirklichkeit KEINEN Unterschied gäbe? Klein (&lt; 0.05) heisst 'wahrscheinlich kein Zufall' = statistisch signifikant.</a:t>
            </a:r>
          </a:p>
          <a:p>
            <a:r>
              <a:t>• ABER: Bei riesigen Datenmengen wird fast ALLES signifikant, auch winzige Unterschiede. Deshalb die Effektstärke: sie misst, wie GROSS der Unterschied praktisch ist. Genau das ist unsere Kernbotschaft.</a:t>
            </a:r>
          </a:p>
          <a:p>
            <a:endParaRPr/>
          </a:p>
          <a:p>
            <a:r>
              <a:t>Die vier Tests sind nur Werkzeuge für je eine der vier Fragen — Details kommen auf den nächsten Slides.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«Werktage sind im Schnitt rund 15 Sekunden unpünktlicher als Wochenenden. Statistisch ist das glasklar. Aber 15 Sekunden merkt im Alltag niemand — die Effektstärke Cohen's d ist mit 0.12 klein. Genau dieser Unterschied zwischen 'signifikant' und 'relevant' zieht sich durch unsere ganze Arbeit.»</a:t>
            </a:r>
          </a:p>
          <a:p>
            <a:endParaRPr/>
          </a:p>
          <a:p>
            <a:r>
              <a:t>BEGRIFFE EINFACH:</a:t>
            </a:r>
          </a:p>
          <a:p>
            <a:r>
              <a:t>• Welch-t-Test = vergleicht zwei Mittelwerte und verträgt, dass die beiden Gruppen unterschiedlich stark streuen.</a:t>
            </a:r>
          </a:p>
          <a:p>
            <a:r>
              <a:t>• Cohen's d = wie gross der Unterschied in 'Streuungs-Einheiten' ist. Faustregel: 0.2 klein, 0.5 mittel, 0.8 gross. Unser 0.12 ist also sehr klein.</a:t>
            </a:r>
          </a:p>
          <a:p>
            <a:r>
              <a:t>• Konfidenzintervall = der Bereich, in dem der wahre Wert mit 95 % Sicherheit liegt. Hier sehr eng, weil wir so viele Daten haben.</a:t>
            </a:r>
          </a:p>
          <a:p>
            <a:r>
              <a:t>• Mann-Whitney = ein Test, der keine Normalverteilung voraussetzt (arbeitet mit Rängen statt Werten) — als Gegenprobe.</a:t>
            </a:r>
          </a:p>
          <a:p>
            <a:endParaRPr/>
          </a:p>
          <a:p>
            <a:r>
              <a:t>WARUM TAGESMITTEL? Unsere Millionen Halte sind nicht unabhängig (derselbe Zug, Bahnhof, Tag). Deshalb haben wir den Test auch nur auf den 48 Tagesdurchschnitten gerechnet — der Effekt bleibt. Das zeigt: er ist echt, kein Artefakt der grossen Zahl.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«Der Linientyp macht einen Unterschied — auch hier hochsignifikant, aber mit η² rund 0.04 wieder ein kleiner Effekt. Die eigentliche Geschichte: Internationale Züge wie TGV, EuroCity und RailJet sammeln im Ausland Verspätung und bringen sie in die Schweiz. Die inländischen IC und IR sind dagegen sehr pünktlich, um die 30 Sekunden.»</a:t>
            </a:r>
          </a:p>
          <a:p>
            <a:endParaRPr/>
          </a:p>
          <a:p>
            <a:r>
              <a:t>BEGRIFFE EINFACH:</a:t>
            </a:r>
          </a:p>
          <a:p>
            <a:r>
              <a:t>• ANOVA (Varianzanalyse) = vergleicht die Mittelwerte von MEHR als zwei Gruppen gleichzeitig (hier die Linientypen). Antwortet auf: 'Gibt es überhaupt irgendwo einen Unterschied?'</a:t>
            </a:r>
          </a:p>
          <a:p>
            <a:r>
              <a:t>• F-Wert = die Test-Kennzahl der ANOVA; gross = die Gruppen unterscheiden sich deutlich relativ zur Streuung innerhalb der Gruppen.</a:t>
            </a:r>
          </a:p>
          <a:p>
            <a:r>
              <a:t>• η² (eta-Quadrat) = Effektstärke der ANOVA: Anteil der Verspätungs-Schwankung, der durch den Linientyp erklärt wird. 0.04 = nur ~4 %.</a:t>
            </a:r>
          </a:p>
          <a:p>
            <a:r>
              <a:t>• Tukey-HSD (im Notebook) = sagt zusätzlich, WELCHE Paare sich konkret unterscheiden, nicht nur dass es Unterschiede gibt.</a:t>
            </a:r>
          </a:p>
          <a:p>
            <a:endParaRPr/>
          </a:p>
          <a:p>
            <a:r>
              <a:t>GRAFIK ERKLÄREN: Boxplot. Die Box ist der Bereich der mittleren 50 % der Werte, der Strich darin der Median. Je höher, desto verspäteter.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«Wetter wirkt in die erwartete Richtung — mehr Regen, etwas mehr Verspätung. Aber der Zusammenhang ist extrem schwach. Wieder ein Lehrstück: Bei 2.7 Millionen Beobachtungen wird selbst ein winziger Zusammenhang hochsignifikant. Die Korrelation r liegt aber unter 0.04 — praktisch bedeutungslos.»</a:t>
            </a:r>
          </a:p>
          <a:p>
            <a:endParaRPr/>
          </a:p>
          <a:p>
            <a:r>
              <a:t>BEGRIFFE EINFACH:</a:t>
            </a:r>
          </a:p>
          <a:p>
            <a:r>
              <a:t>• Korrelation r = Mass für den Zusammenhang zweier Grössen, zwischen -1 und +1. 0 = kein Zusammenhang, ±1 = perfekter. Unsere Werte ~0.02–0.04 sind quasi null.</a:t>
            </a:r>
          </a:p>
          <a:p>
            <a:r>
              <a:t>• Pearson = misst LINEAREN Zusammenhang. Spearman = misst, ob es generell rauf/runter geht (monoton), über Ränge. Dass beide ähnlich klein sind, bestätigt: da ist einfach wenig.</a:t>
            </a:r>
          </a:p>
          <a:p>
            <a:r>
              <a:t>• 'erklärt &lt; 0.3 % der Varianz' = r² (das Quadrat von r) als Anteil.</a:t>
            </a:r>
          </a:p>
          <a:p>
            <a:endParaRPr/>
          </a:p>
          <a:p>
            <a:r>
              <a:t>MÖGLICHE FRAGE: 'Warum überhaupt zeigen, wenn der Effekt null ist?' — Weil es methodisch ehrlich ist und genau den Unterschied signifikant/relevant demonstriert. Negative bzw. Null-Ergebnisse sauber zu berichten ist Teil guter Wissenschaft.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«Zum Schluss kombinieren wir alle Faktoren in einem Modell. Es erklärt nur rund 4 Prozent der Verspätung. Das klingt wenig, ist aber eine ehrliche und wichtige Erkenntnis: Verspätung entsteht überwiegend aus einzelnen, zufälligen Ereignissen — Defekte, Störungen — und nicht aus Tag, Linientyp oder Wetter.»</a:t>
            </a:r>
          </a:p>
          <a:p>
            <a:endParaRPr/>
          </a:p>
          <a:p>
            <a:r>
              <a:t>BEGRIFFE EINFACH:</a:t>
            </a:r>
          </a:p>
          <a:p>
            <a:r>
              <a:t>• OLS-Regression = ein Modell, das die Verspätung gleichzeitig durch mehrere Einflussgrössen (Rush-Hour, Wochenende, Linientyp, Wetter) vorhersagt.</a:t>
            </a:r>
          </a:p>
          <a:p>
            <a:r>
              <a:t>• Koeffizient = der Effekt eines Faktors in Sekunden. Beispiel: Rush-Hour +10 s heisst, zur Stosszeit kommen im Schnitt 10 s Verspätung dazu.</a:t>
            </a:r>
          </a:p>
          <a:p>
            <a:r>
              <a:t>• R² = Anteil der Verspätungs-Schwankung, den das Modell erklärt. 0.043 = ~4 %. Der Rest ist nicht erklärt = idiosynkratisch (Einzelfälle).</a:t>
            </a:r>
          </a:p>
          <a:p>
            <a:r>
              <a:t>• Heteroskedastizität (Breusch-Pagan-Test) = die Streuung der Fehler ist nicht konstant (bei grossen Verspätungen grösser). Wir benennen das offen.</a:t>
            </a:r>
          </a:p>
          <a:p>
            <a:r>
              <a:t>• VIF = prüft, ob sich Einflussgrössen gegenseitig zu stark überlappen (Multikollinearität). Bei uns unauffällig.</a:t>
            </a:r>
          </a:p>
          <a:p>
            <a:endParaRPr/>
          </a:p>
          <a:p>
            <a:r>
              <a:t>GRAFIK: Residuen-Plot. Jeder Punkt ist ein Halt; x = Vorhersage, y = Fehler. Die Trichterform nach rechts ist genau die Heteroskedastizität.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«Diese Heatmap zeigt, WANN es kritisch wird: dunkle Felder morgens und abends an Werktagen — die klassische Rush-Hour. Genau diese Erkenntnis bauen wir in der Webapp interaktiv nach.»</a:t>
            </a:r>
          </a:p>
          <a:p>
            <a:endParaRPr/>
          </a:p>
          <a:p>
            <a:r>
              <a:t>GRAFIK ERKLÄREN: Zeilen = Wochentage (Mo–So), Spalten = Stunde 0–23, Farbe = durchschnittliche Verspätung. Je dunkler/röter, desto verspäteter. So sieht man Muster auf einen Blick statt in einer Zahlentabelle.</a:t>
            </a:r>
          </a:p>
          <a:p>
            <a:endParaRPr/>
          </a:p>
          <a:p>
            <a:r>
              <a:t>Überleitung zur Demo: «Schauen wir uns das jetzt live in unserer Webapp an.»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Überleitung in die Live-Demo: «Statt nur Zahlen zu zeigen, gehen wir die App einmal aus Sicht echter Nutzer durch.» Grossi (89) war als junge Frau Au-pair in Lausanne, lernte am Schloss Chillon den Maler Luc kennen; ihr Traum ist die Rückkehr. Ihr Enkel Thomas will ihr das schenken — möglichst stressfrei, mit wenig Gedränge. Genau dafür nutzen sie unsere App.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Kurz die zwei Personen vorstellen. Sympathisch, knapp halten — die Details kommen über die Sprechblasen auf der nächsten Folie. Wichtig fürs Publikum: das Ziel ist «möglichst stressfrei, möglichst wenig Leute im Zug».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emotionale Aufhänger. Hier laut die zwei Sätze vorlesen — das gibt der Demo einen roten Faden. Dann auf die App wechseln: «Schauen wir, was die App dazu sagt.»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 Karte: 1) App ist offen, Ladeanimation kurz zeigen (Grossi-Reaktion einbauen). 2) «Jeder Punkt ein Bahnhof, Farbe zeigt die mittlere Verspätung.» 3) Den Regler 'Nur Hotspots' hochziehen — Grenzbahnhöfe bleiben. 4) Auf Zürich HB und Bern klicken, Verspätung vergleichen: für den Umstieg ist tendenziell einer ruhiger. Diese Folie ist der Fallback, wenn die Live-Demo hakt.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 Tageszeit: 1) Heatmap zeigen, «dunkler = verspäteter». 2) Erklären, dass sie ein ruhiges Fenster ausserhalb der Rush-Hour suchen, aber nicht nachts. 3) Wunschdatum im Filter darunter eingeben. 4) Erwähnen: 2-Tages-Reise mit Übernachtung, weil die Strecke für Grossi sonst zu lang wäre.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 Pendler-Insight: 1) Zuerst eine vorgefertigte Bubble-Frage anklicken — Ladeanimation (Zug) zeigen. 2) Antwort vorlesen, betonen: das Modell nutzt NUR unsere Statistik-Daten (kein Halluzinieren), Transparenz-Aufklapper kurz zeigen. 3) Dann selbst eine eigene Frage tippen, z.B. zur Strecke Winterthur–Lausanne. 4) Zum Abschluss kurz in den Über-Tab: Datenquellen + CC-BY-Lizenzen — zeigt Wissenschaftlichkeit und Transparenz. Danach Übergang zurück zu den Schlussfolgerungen.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 (nicht nur die Folie zeigen, App wirklich bedienen!):</a:t>
            </a:r>
          </a:p>
          <a:p>
            <a:r>
              <a:t>1. App vorher starten: 'streamlit run app/streamlit_app.py'.</a:t>
            </a:r>
          </a:p>
          <a:p>
            <a:r>
              <a:t>2. «Jeder Punkt ist ein Bahnhof, die Farbe zeigt die mittlere Verspätung.»</a:t>
            </a:r>
          </a:p>
          <a:p>
            <a:r>
              <a:t>3. Den rechten Regler 'Nur Hotspots' langsam hochziehen — die Karte dünnt aus, bis nur noch die rotesten Bahnhöfe übrig sind.</a:t>
            </a:r>
          </a:p>
          <a:p>
            <a:r>
              <a:t>4. «Auffällig: die Hotspots liegen an den Grenzen — Buchs SG, St. Margrethen — weil internationale Züge ihre Verspätung importieren.»</a:t>
            </a:r>
          </a:p>
          <a:p>
            <a:endParaRPr/>
          </a:p>
          <a:p>
            <a:r>
              <a:t>BEGRIFFE: 'Folium' = Python-Bibliothek für interaktive Landkarten. Der linke Regler blendet Bahnhöfe mit zu wenigen Daten aus (statistisch unsicher).</a:t>
            </a:r>
          </a:p>
          <a:p>
            <a:endParaRPr/>
          </a:p>
          <a:p>
            <a:r>
              <a:t>Falls die Live-Demo hakt: dieser Screenshot dient als Fallback.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a:t>
            </a:r>
          </a:p>
          <a:p>
            <a:r>
              <a:t>1. Eine Beispielfrage anklicken oder tippen, z. B. 'Wann erwische ich am ehesten einen pünktlichen Zug?'.</a:t>
            </a:r>
          </a:p>
          <a:p>
            <a:r>
              <a:t>2. «Das Sprachmodell bekommt unsere Statistik als Kontext mitgeliefert und darf NUR damit antworten — es soll nichts erfinden.»</a:t>
            </a:r>
          </a:p>
          <a:p>
            <a:r>
              <a:t>3. Auf den Ausklapp-Bereich 'Welche Daten hat das Modell gesehen?' zeigen — das macht es transparent und überprüfbar.</a:t>
            </a:r>
          </a:p>
          <a:p>
            <a:endParaRPr/>
          </a:p>
          <a:p>
            <a:r>
              <a:t>BEGRIFFE EINFACH:</a:t>
            </a:r>
          </a:p>
          <a:p>
            <a:r>
              <a:t>• Sprachmodell / LLM = ein KI-Modell (hier Claude Sonnet 4.6), das Texte versteht und formuliert.</a:t>
            </a:r>
          </a:p>
          <a:p>
            <a:r>
              <a:t>• 'Kontext mitgeben' = wir hängen die relevanten Zahlen an die Frage an, damit die Antwort auf unseren Daten basiert und nicht auf Allgemeinwissen.</a:t>
            </a:r>
          </a:p>
          <a:p>
            <a:r>
              <a:t>• 'Halluzination' = wenn ein Modell plausibel klingende, aber falsche Dinge erfindet. Wir verhindern das durch klare Anweisung und mitgelieferte Fakten.</a:t>
            </a:r>
          </a:p>
          <a:p>
            <a:endParaRPr/>
          </a:p>
          <a:p>
            <a:r>
              <a:t>MÖGLICHE FRAGE: 'Woher weiss man, dass es nicht doch erfindet?' — Wir geben die Datenbasis transparent aus und weisen das Modell explizit an, nur vorhandene Zahlen zu nennen.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«Zusätzlich lassen wir das Sprachmodell die zehn schlimmsten Tage einordnen — also eine mögliche Ursache vorschlagen. Wir kommunizieren klar, dass das Hypothesen sind, keine bewiesenen Fakten.»</a:t>
            </a:r>
          </a:p>
          <a:p>
            <a:endParaRPr/>
          </a:p>
          <a:p>
            <a:r>
              <a:t>BEGRIFFE EINFACH:</a:t>
            </a:r>
          </a:p>
          <a:p>
            <a:r>
              <a:t>• 'Temperatur' beim Sprachmodell = Kreativitäts-Regler von 0 bis 1. Niedrig (0.2) = vorsichtig, faktentreu, wenig Fantasie. Genau das wollen wir hier.</a:t>
            </a:r>
          </a:p>
          <a:p>
            <a:r>
              <a:t>• 'Feste Taxonomie' = wir geben eine vorgegebene Liste möglicher Ursachen vor, statt das Modell frei raten zu lassen.</a:t>
            </a:r>
          </a:p>
          <a:p>
            <a:r>
              <a:t>• 'Konfidenz' = das Modell gibt selbst an, wie sicher es ist (hoch/mittel/niedrig). Achtung: das ist eine Selbsteinschätzung, nicht kalibriert.</a:t>
            </a:r>
          </a:p>
          <a:p>
            <a:endParaRPr/>
          </a:p>
          <a:p>
            <a:r>
              <a:t>MÖGLICHE FRAGE: 'Ist das wissenschaftlich?' — Als qualitative Ergänzung ja, solange man es ehrlich als Hypothese kennzeichnet — was wir tun.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«Zur Ehrlichkeit gehören die Grenzen. Der wichtigste Punkt: unsere Beobachtungen sind nicht unabhängig voneinander. Das macht rohe p-Werte zu optimistisch — deshalb der Tagesmittel-Gegencheck und der Fokus auf Effektstärken.»</a:t>
            </a:r>
          </a:p>
          <a:p>
            <a:endParaRPr/>
          </a:p>
          <a:p>
            <a:r>
              <a:t>BEGRIFFE EINFACH:</a:t>
            </a:r>
          </a:p>
          <a:p>
            <a:r>
              <a:t>• Pseudoreplikation = man tut so, als hätte man Millionen unabhängige Messungen, obwohl viele zusammenhängen (derselbe Zug an vielen Halten). Dann wirken Ergebnisse sicherer als sie sind.</a:t>
            </a:r>
          </a:p>
          <a:p>
            <a:r>
              <a:t>• Saisonalität = jahreszeitliche Muster; wir haben nur Frühling, also keine Aussage über Winter.</a:t>
            </a:r>
          </a:p>
          <a:p>
            <a:r>
              <a:t>• Korrelation ≠ Kausalität = zwei Dinge hängen zusammen, heisst nicht, dass eins das andere VERURSACHT (z. B. Sturm UND Bauarbeiten am selben Tag).</a:t>
            </a:r>
          </a:p>
          <a:p>
            <a:endParaRPr/>
          </a:p>
          <a:p>
            <a:r>
              <a:t>Diese Slide ist ein PLUS, kein Schwächeeingeständnis: Wer Limitationen sauber benennt, zeigt methodisches Verständnis.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«Zusammengefasst: Die SBB ist sehr pünktlich. Die Effekte, die wir finden, sind echt, aber klein. Der grösste Teil der Verspätung ist Zufall im Einzelfall. Und die schlimmsten Bahnhöfe liegen an der Grenze. Unser Beitrag ist, diese Daten transparent und interaktiv zugänglich zu machen.»</a:t>
            </a:r>
          </a:p>
          <a:p>
            <a:endParaRPr/>
          </a:p>
          <a:p>
            <a:r>
              <a:t>Das ist die Stelle, an der die rote Linie zusammenläuft: ehrlicher Umgang mit kleinen Effekten ist die methodische Stärke der Arbeit. Mit Selbstvertrauen sagen.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«Alle Daten sind offen, der gesamte Code liegt öffentlich auf GitHub und ist mit den Build-Skripten reproduzierbar. Vielen Dank, wir freuen uns auf eure Fragen.»</a:t>
            </a:r>
          </a:p>
          <a:p>
            <a:endParaRPr/>
          </a:p>
          <a:p>
            <a:r>
              <a:t>Ruhig abschliessen, Blickkontakt, kurze Pause für Fragen lassen. Wer welche Frage übernimmt, vorher grob klären.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2788920"/>
            <a:ext cx="12191695" cy="9144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737360"/>
            <a:ext cx="10698480" cy="1005840"/>
          </a:xfrm>
          <a:prstGeom prst="rect">
            <a:avLst/>
          </a:prstGeom>
          <a:noFill/>
        </p:spPr>
        <p:txBody>
          <a:bodyPr wrap="square">
            <a:spAutoFit/>
          </a:bodyPr>
          <a:lstStyle/>
          <a:p>
            <a:pPr algn="l">
              <a:spcAft>
                <a:spcPts val="800"/>
              </a:spcAft>
            </a:pPr>
            <a:r>
              <a:rPr sz="5400" b="1">
                <a:solidFill>
                  <a:srgbClr val="FFFFFF"/>
                </a:solidFill>
                <a:latin typeface="Segoe UI"/>
              </a:rPr>
              <a:t>SBB Tracker</a:t>
            </a:r>
          </a:p>
        </p:txBody>
      </p:sp>
      <p:sp>
        <p:nvSpPr>
          <p:cNvPr id="4" name="TextBox 3"/>
          <p:cNvSpPr txBox="1"/>
          <p:nvPr/>
        </p:nvSpPr>
        <p:spPr>
          <a:xfrm>
            <a:off x="731520" y="2926080"/>
            <a:ext cx="10698480" cy="1280160"/>
          </a:xfrm>
          <a:prstGeom prst="rect">
            <a:avLst/>
          </a:prstGeom>
          <a:noFill/>
        </p:spPr>
        <p:txBody>
          <a:bodyPr wrap="square">
            <a:spAutoFit/>
          </a:bodyPr>
          <a:lstStyle/>
          <a:p>
            <a:pPr algn="l">
              <a:spcAft>
                <a:spcPts val="800"/>
              </a:spcAft>
            </a:pPr>
            <a:r>
              <a:rPr sz="2600" b="1">
                <a:solidFill>
                  <a:srgbClr val="EB0000"/>
                </a:solidFill>
                <a:latin typeface="Segoe UI"/>
              </a:rPr>
              <a:t>Pünktlichkeitsanalyse der Schweizerischen Bundesbahnen</a:t>
            </a:r>
          </a:p>
          <a:p>
            <a:pPr algn="l">
              <a:spcAft>
                <a:spcPts val="800"/>
              </a:spcAft>
            </a:pPr>
            <a:r>
              <a:rPr sz="1600" b="0">
                <a:solidFill>
                  <a:srgbClr val="CCCCCC"/>
                </a:solidFill>
                <a:latin typeface="Segoe UI"/>
              </a:rPr>
              <a:t>Datengetriebene Analyse von 2.74 Mio Zug-Halten · April–Mai 2026</a:t>
            </a:r>
          </a:p>
        </p:txBody>
      </p:sp>
      <p:sp>
        <p:nvSpPr>
          <p:cNvPr id="5" name="TextBox 4"/>
          <p:cNvSpPr txBox="1"/>
          <p:nvPr/>
        </p:nvSpPr>
        <p:spPr>
          <a:xfrm>
            <a:off x="731520" y="5486400"/>
            <a:ext cx="10698480" cy="914400"/>
          </a:xfrm>
          <a:prstGeom prst="rect">
            <a:avLst/>
          </a:prstGeom>
          <a:noFill/>
        </p:spPr>
        <p:txBody>
          <a:bodyPr wrap="square">
            <a:spAutoFit/>
          </a:bodyPr>
          <a:lstStyle/>
          <a:p>
            <a:pPr algn="l">
              <a:spcAft>
                <a:spcPts val="800"/>
              </a:spcAft>
            </a:pPr>
            <a:r>
              <a:rPr sz="1600" b="1">
                <a:solidFill>
                  <a:srgbClr val="FFFFFF"/>
                </a:solidFill>
                <a:latin typeface="Segoe UI"/>
              </a:rPr>
              <a:t>Joël Hasler &amp; Patrick Ferreira</a:t>
            </a:r>
          </a:p>
          <a:p>
            <a:pPr algn="l">
              <a:spcAft>
                <a:spcPts val="800"/>
              </a:spcAft>
            </a:pPr>
            <a:r>
              <a:rPr sz="1300" b="0">
                <a:solidFill>
                  <a:srgbClr val="AAAAAA"/>
                </a:solidFill>
                <a:latin typeface="Segoe UI"/>
              </a:rPr>
              <a:t>ZHAW Scientific Programming · FS2026 · Dozent: Mario Gellrich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Agenda</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2000" b="0">
                <a:solidFill>
                  <a:srgbClr val="1A1A1A"/>
                </a:solidFill>
                <a:latin typeface="Segoe UI"/>
              </a:rPr>
              <a:t>•  Motivation und Forschungsfragen</a:t>
            </a:r>
          </a:p>
          <a:p>
            <a:pPr algn="l">
              <a:spcAft>
                <a:spcPts val="800"/>
              </a:spcAft>
            </a:pPr>
            <a:r>
              <a:rPr sz="2000" b="0">
                <a:solidFill>
                  <a:srgbClr val="1A1A1A"/>
                </a:solidFill>
                <a:latin typeface="Segoe UI"/>
              </a:rPr>
              <a:t>•  Datengrundlage und eine zentrale Design-Entscheidung</a:t>
            </a:r>
          </a:p>
          <a:p>
            <a:pPr algn="l">
              <a:spcAft>
                <a:spcPts val="800"/>
              </a:spcAft>
            </a:pPr>
            <a:r>
              <a:rPr sz="2000" b="0">
                <a:solidFill>
                  <a:srgbClr val="1A1A1A"/>
                </a:solidFill>
                <a:latin typeface="Segoe UI"/>
              </a:rPr>
              <a:t>•  Methodik: vier statistische Tests plus ein Sprachmodell</a:t>
            </a:r>
          </a:p>
          <a:p>
            <a:pPr algn="l">
              <a:spcAft>
                <a:spcPts val="800"/>
              </a:spcAft>
            </a:pPr>
            <a:r>
              <a:rPr sz="2000" b="0">
                <a:solidFill>
                  <a:srgbClr val="1A1A1A"/>
                </a:solidFill>
                <a:latin typeface="Segoe UI"/>
              </a:rPr>
              <a:t>•  Ergebnisse — mit Fokus auf Effektstärken</a:t>
            </a:r>
          </a:p>
          <a:p>
            <a:pPr algn="l">
              <a:spcAft>
                <a:spcPts val="800"/>
              </a:spcAft>
            </a:pPr>
            <a:r>
              <a:rPr sz="2000" b="0">
                <a:solidFill>
                  <a:srgbClr val="1A1A1A"/>
                </a:solidFill>
                <a:latin typeface="Segoe UI"/>
              </a:rPr>
              <a:t>•  Live-Demo der Webapp</a:t>
            </a:r>
          </a:p>
          <a:p>
            <a:pPr algn="l">
              <a:spcAft>
                <a:spcPts val="800"/>
              </a:spcAft>
            </a:pPr>
            <a:r>
              <a:rPr sz="2000" b="0">
                <a:solidFill>
                  <a:srgbClr val="1A1A1A"/>
                </a:solidFill>
                <a:latin typeface="Segoe UI"/>
              </a:rPr>
              <a:t>•  Limitationen und Schlussfolgerungen</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Motivation und Forschungsfragen</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Die offizielle SBB-Pünktlichkeit (92.5 %) ist ein Durchschnitt —</a:t>
            </a:r>
          </a:p>
          <a:p>
            <a:pPr algn="l">
              <a:spcAft>
                <a:spcPts val="800"/>
              </a:spcAft>
            </a:pPr>
            <a:r>
              <a:rPr sz="1800" b="1">
                <a:solidFill>
                  <a:srgbClr val="1A1A1A"/>
                </a:solidFill>
                <a:latin typeface="Segoe UI"/>
              </a:rPr>
              <a:t>•  für die konkrete Reiseplanung wenig hilfreich. Wir gehen ins Detail:</a:t>
            </a:r>
          </a:p>
          <a:p>
            <a:pPr lvl="1" algn="l">
              <a:spcAft>
                <a:spcPts val="800"/>
              </a:spcAft>
            </a:pPr>
            <a:r>
              <a:rPr sz="1500" b="0">
                <a:solidFill>
                  <a:srgbClr val="595959"/>
                </a:solidFill>
                <a:latin typeface="Segoe UI"/>
              </a:rPr>
              <a:t>–  F1: Sind Werktage unpünktlicher als Wochenenden?</a:t>
            </a:r>
          </a:p>
          <a:p>
            <a:pPr lvl="1" algn="l">
              <a:spcAft>
                <a:spcPts val="800"/>
              </a:spcAft>
            </a:pPr>
            <a:r>
              <a:rPr sz="1500" b="0">
                <a:solidFill>
                  <a:srgbClr val="595959"/>
                </a:solidFill>
                <a:latin typeface="Segoe UI"/>
              </a:rPr>
              <a:t>–  F2: Beeinflusst der Linientyp (S-Bahn, IC, IR …) die Verspätung?</a:t>
            </a:r>
          </a:p>
          <a:p>
            <a:pPr lvl="1" algn="l">
              <a:spcAft>
                <a:spcPts val="800"/>
              </a:spcAft>
            </a:pPr>
            <a:r>
              <a:rPr sz="1500" b="0">
                <a:solidFill>
                  <a:srgbClr val="595959"/>
                </a:solidFill>
                <a:latin typeface="Segoe UI"/>
              </a:rPr>
              <a:t>–  F3: Hängt das Wetter (Regen, Temperatur) mit Verspätung zusammen?</a:t>
            </a:r>
          </a:p>
          <a:p>
            <a:pPr lvl="1" algn="l">
              <a:spcAft>
                <a:spcPts val="800"/>
              </a:spcAft>
            </a:pPr>
            <a:r>
              <a:rPr sz="1500" b="0">
                <a:solidFill>
                  <a:srgbClr val="595959"/>
                </a:solidFill>
                <a:latin typeface="Segoe UI"/>
              </a:rPr>
              <a:t>–  F4: Welche Faktoren erklären Verspätung gemeinsam (Regression)?</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Datengrundlage</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2'739'734 gemessene Zug-Halte über 48 Betriebstage (2026-03-31 bis 2026-05-19)</a:t>
            </a:r>
          </a:p>
          <a:p>
            <a:pPr algn="l">
              <a:spcAft>
                <a:spcPts val="800"/>
              </a:spcAft>
            </a:pPr>
            <a:r>
              <a:rPr sz="1800" b="0">
                <a:solidFill>
                  <a:srgbClr val="1A1A1A"/>
                </a:solidFill>
                <a:latin typeface="Segoe UI"/>
              </a:rPr>
              <a:t>•  Drei offene Quellen: opentransportdata.swiss (Ist-Daten), data.sbb.ch</a:t>
            </a:r>
          </a:p>
          <a:p>
            <a:pPr algn="l">
              <a:spcAft>
                <a:spcPts val="800"/>
              </a:spcAft>
            </a:pPr>
            <a:r>
              <a:rPr sz="1800" b="0">
                <a:solidFill>
                  <a:srgbClr val="1A1A1A"/>
                </a:solidFill>
                <a:latin typeface="Segoe UI"/>
              </a:rPr>
              <a:t>•  (Bahnhof-Stammdaten), MeteoSchweiz (stündliches Wetter, 15 Stationen)</a:t>
            </a:r>
          </a:p>
          <a:p>
            <a:pPr algn="l">
              <a:spcAft>
                <a:spcPts val="800"/>
              </a:spcAft>
            </a:pPr>
            <a:r>
              <a:rPr sz="1800" b="0">
                <a:solidFill>
                  <a:srgbClr val="1A1A1A"/>
                </a:solidFill>
                <a:latin typeface="Segoe UI"/>
              </a:rPr>
              <a:t>•  Design-Entscheidung: hohe Auflösung statt langer Zeitspanne</a:t>
            </a:r>
          </a:p>
          <a:p>
            <a:pPr lvl="1" algn="l">
              <a:spcAft>
                <a:spcPts val="800"/>
              </a:spcAft>
            </a:pPr>
            <a:r>
              <a:rPr sz="1500" b="0">
                <a:solidFill>
                  <a:srgbClr val="595959"/>
                </a:solidFill>
                <a:latin typeface="Segoe UI"/>
              </a:rPr>
              <a:t>–  48 Tage pro einzelnen Halt (~85 Mio Datenpunkte) statt Jahres-Summen</a:t>
            </a:r>
          </a:p>
          <a:p>
            <a:pPr lvl="1" algn="l">
              <a:spcAft>
                <a:spcPts val="800"/>
              </a:spcAft>
            </a:pPr>
            <a:r>
              <a:rPr sz="1500" b="0">
                <a:solidFill>
                  <a:srgbClr val="595959"/>
                </a:solidFill>
                <a:latin typeface="Segoe UI"/>
              </a:rPr>
              <a:t>–  erst das ermöglicht Stunden-, Bahnhof- und Wetter-Vergleiche</a:t>
            </a:r>
          </a:p>
          <a:p>
            <a:pPr algn="l">
              <a:spcAft>
                <a:spcPts val="800"/>
              </a:spcAft>
            </a:pPr>
            <a:r>
              <a:rPr sz="1800" b="0">
                <a:solidFill>
                  <a:srgbClr val="1A1A1A"/>
                </a:solidFill>
                <a:latin typeface="Segoe UI"/>
              </a:rPr>
              <a:t>•  Bereinigung: 70 unmögliche Werte (fehlerhafte Quell-Zeitstempel) entfernt</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Methodik</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Pipeline: Download → SQLite-Datenbank (3 Tabellen) → Aufbereitung →</a:t>
            </a:r>
          </a:p>
          <a:p>
            <a:pPr algn="l">
              <a:spcAft>
                <a:spcPts val="800"/>
              </a:spcAft>
            </a:pPr>
            <a:r>
              <a:rPr sz="1800" b="0">
                <a:solidFill>
                  <a:srgbClr val="1A1A1A"/>
                </a:solidFill>
                <a:latin typeface="Segoe UI"/>
              </a:rPr>
              <a:t>•  Zeit- und Wetter-Merkmale pro Halt anreichern</a:t>
            </a:r>
          </a:p>
          <a:p>
            <a:pPr algn="l">
              <a:spcAft>
                <a:spcPts val="800"/>
              </a:spcAft>
            </a:pPr>
            <a:r>
              <a:rPr sz="1800" b="1">
                <a:solidFill>
                  <a:srgbClr val="1A1A1A"/>
                </a:solidFill>
                <a:latin typeface="Segoe UI"/>
              </a:rPr>
              <a:t>•  Vier statistische Tests, jeweils mit p-Wert UND Effektstärke:</a:t>
            </a:r>
          </a:p>
          <a:p>
            <a:pPr lvl="1" algn="l">
              <a:spcAft>
                <a:spcPts val="800"/>
              </a:spcAft>
            </a:pPr>
            <a:r>
              <a:rPr sz="1500" b="0">
                <a:solidFill>
                  <a:srgbClr val="595959"/>
                </a:solidFill>
                <a:latin typeface="Segoe UI"/>
              </a:rPr>
              <a:t>–  Welch-t-Test, ANOVA, Korrelation, multiple Regression</a:t>
            </a:r>
          </a:p>
          <a:p>
            <a:pPr algn="l">
              <a:spcAft>
                <a:spcPts val="800"/>
              </a:spcAft>
            </a:pPr>
            <a:r>
              <a:rPr sz="1800" b="0">
                <a:solidFill>
                  <a:srgbClr val="1A1A1A"/>
                </a:solidFill>
                <a:latin typeface="Segoe UI"/>
              </a:rPr>
              <a:t>•  Plus Robustheits- und Annahmen-Checks (ehrliche Statistik)</a:t>
            </a:r>
          </a:p>
          <a:p>
            <a:pPr algn="l">
              <a:spcAft>
                <a:spcPts val="800"/>
              </a:spcAft>
            </a:pPr>
            <a:r>
              <a:rPr sz="1800" b="0">
                <a:solidFill>
                  <a:srgbClr val="1A1A1A"/>
                </a:solidFill>
                <a:latin typeface="Segoe UI"/>
              </a:rPr>
              <a:t>•  Ein Sprachmodell (Claude) für qualitative Ursachen-Hypothesen</a:t>
            </a:r>
          </a:p>
          <a:p>
            <a:pPr algn="l">
              <a:spcAft>
                <a:spcPts val="800"/>
              </a:spcAft>
            </a:pPr>
            <a:r>
              <a:rPr sz="1800" b="0">
                <a:solidFill>
                  <a:srgbClr val="1A1A1A"/>
                </a:solidFill>
                <a:latin typeface="Segoe UI"/>
              </a:rPr>
              <a:t>•  Werkzeuge: pandas · scipy · statsmodels · folium · streamlit · SQLite</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Ergebnis F1 — Werktag vs. Wochenende</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4069080"/>
          </a:xfrm>
          <a:prstGeom prst="rect">
            <a:avLst/>
          </a:prstGeom>
          <a:noFill/>
        </p:spPr>
        <p:txBody>
          <a:bodyPr wrap="square">
            <a:spAutoFit/>
          </a:bodyPr>
          <a:lstStyle/>
          <a:p>
            <a:pPr algn="l">
              <a:spcAft>
                <a:spcPts val="800"/>
              </a:spcAft>
            </a:pPr>
            <a:r>
              <a:rPr sz="1800" b="0">
                <a:solidFill>
                  <a:srgbClr val="1A1A1A"/>
                </a:solidFill>
                <a:latin typeface="Segoe UI"/>
              </a:rPr>
              <a:t>•  Werktag 50.1 s  vs.  Wochenende 34.6 s</a:t>
            </a:r>
          </a:p>
          <a:p>
            <a:pPr algn="l">
              <a:spcAft>
                <a:spcPts val="800"/>
              </a:spcAft>
            </a:pPr>
            <a:r>
              <a:rPr sz="1800" b="0">
                <a:solidFill>
                  <a:srgbClr val="1A1A1A"/>
                </a:solidFill>
                <a:latin typeface="Segoe UI"/>
              </a:rPr>
              <a:t>•  Welch-t = 95.0, p &lt; 10⁻³⁰⁰ (hochsignifikant)</a:t>
            </a:r>
          </a:p>
          <a:p>
            <a:pPr algn="l">
              <a:spcAft>
                <a:spcPts val="800"/>
              </a:spcAft>
            </a:pPr>
            <a:r>
              <a:rPr sz="1800" b="0">
                <a:solidFill>
                  <a:srgbClr val="1A1A1A"/>
                </a:solidFill>
                <a:latin typeface="Segoe UI"/>
              </a:rPr>
              <a:t>•  Differenz 15.5 s, 95%-Konfidenzintervall [15.2, 15.8] s</a:t>
            </a:r>
          </a:p>
          <a:p>
            <a:pPr algn="l">
              <a:spcAft>
                <a:spcPts val="800"/>
              </a:spcAft>
            </a:pPr>
            <a:r>
              <a:rPr sz="1800" b="0">
                <a:solidFill>
                  <a:srgbClr val="1A1A1A"/>
                </a:solidFill>
                <a:latin typeface="Segoe UI"/>
              </a:rPr>
              <a:t>•  Effektstärke Cohen's d = 0.12 → praktisch klein</a:t>
            </a:r>
          </a:p>
          <a:p>
            <a:pPr algn="l">
              <a:spcAft>
                <a:spcPts val="800"/>
              </a:spcAft>
            </a:pPr>
            <a:r>
              <a:rPr sz="1800" b="0">
                <a:solidFill>
                  <a:srgbClr val="1A1A1A"/>
                </a:solidFill>
                <a:latin typeface="Segoe UI"/>
              </a:rPr>
              <a:t>•  Gegenchecks: Mann-Whitney-Test und Test auf 48 Tagesmitteln bestätigen es</a:t>
            </a:r>
          </a:p>
        </p:txBody>
      </p:sp>
      <p:sp>
        <p:nvSpPr>
          <p:cNvPr id="6" name="Rounded Rectangle 5"/>
          <p:cNvSpPr/>
          <p:nvPr/>
        </p:nvSpPr>
        <p:spPr>
          <a:xfrm>
            <a:off x="640080" y="5532120"/>
            <a:ext cx="10908792" cy="777240"/>
          </a:xfrm>
          <a:prstGeom prst="roundRect">
            <a:avLst/>
          </a:prstGeom>
          <a:solidFill>
            <a:srgbClr val="FCE9E9"/>
          </a:solidFill>
          <a:ln w="12700">
            <a:solidFill>
              <a:srgbClr val="EB0000"/>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lstStyle/>
          <a:p>
            <a:pPr algn="ctr"/>
            <a:r>
              <a:rPr sz="1400" b="1">
                <a:solidFill>
                  <a:srgbClr val="1A1A1A"/>
                </a:solidFill>
                <a:latin typeface="Segoe UI"/>
              </a:rPr>
              <a:t>Signifikant ja — aber der Unterschied von ~15 s ist im Alltag kaum spürbar (d = 0.12).</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Ergebnis F2 — Linientyp (ANOVA)</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03_analyse_visualisierung_cell21_plot0.png"/>
          <p:cNvPicPr>
            <a:picLocks noChangeAspect="1"/>
          </p:cNvPicPr>
          <p:nvPr/>
        </p:nvPicPr>
        <p:blipFill>
          <a:blip r:embed="rId3"/>
          <a:stretch>
            <a:fillRect/>
          </a:stretch>
        </p:blipFill>
        <p:spPr>
          <a:xfrm>
            <a:off x="1463206" y="1371600"/>
            <a:ext cx="9265283" cy="4526280"/>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ANOVA F = 8'450.0, p &lt; 10⁻³⁰⁰, η² = 0.039 (klein). Internationale Züge (TGV, EC, RJX) bringen Verspätung aus dem Ausland mit.</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Ergebnis F3 — Wetter und Verspätung</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4069080"/>
          </a:xfrm>
          <a:prstGeom prst="rect">
            <a:avLst/>
          </a:prstGeom>
          <a:noFill/>
        </p:spPr>
        <p:txBody>
          <a:bodyPr wrap="square">
            <a:spAutoFit/>
          </a:bodyPr>
          <a:lstStyle/>
          <a:p>
            <a:pPr algn="l">
              <a:spcAft>
                <a:spcPts val="800"/>
              </a:spcAft>
            </a:pPr>
            <a:r>
              <a:rPr sz="1800" b="0">
                <a:solidFill>
                  <a:srgbClr val="1A1A1A"/>
                </a:solidFill>
                <a:latin typeface="Segoe UI"/>
              </a:rPr>
              <a:t>•  Niederschlag: Pearson r = 0.0218 (p &lt; 10⁻²⁸⁰)</a:t>
            </a:r>
          </a:p>
          <a:p>
            <a:pPr algn="l">
              <a:spcAft>
                <a:spcPts val="800"/>
              </a:spcAft>
            </a:pPr>
            <a:r>
              <a:rPr sz="1800" b="0">
                <a:solidFill>
                  <a:srgbClr val="1A1A1A"/>
                </a:solidFill>
                <a:latin typeface="Segoe UI"/>
              </a:rPr>
              <a:t>•  Sonne r = -0.0368 · Feuchte r = 0.0304</a:t>
            </a:r>
          </a:p>
          <a:p>
            <a:pPr algn="l">
              <a:spcAft>
                <a:spcPts val="800"/>
              </a:spcAft>
            </a:pPr>
            <a:r>
              <a:rPr sz="1800" b="0">
                <a:solidFill>
                  <a:srgbClr val="1A1A1A"/>
                </a:solidFill>
                <a:latin typeface="Segoe UI"/>
              </a:rPr>
              <a:t>•  Alle hochsignifikant — aber |r| &lt; 0.04, also inhaltlich trivial</a:t>
            </a:r>
          </a:p>
          <a:p>
            <a:pPr algn="l">
              <a:spcAft>
                <a:spcPts val="800"/>
              </a:spcAft>
            </a:pPr>
            <a:r>
              <a:rPr sz="1800" b="0">
                <a:solidFill>
                  <a:srgbClr val="1A1A1A"/>
                </a:solidFill>
                <a:latin typeface="Segoe UI"/>
              </a:rPr>
              <a:t>•  Spearman ≈ Pearson → Zusammenhang schwach und überwiegend monoton</a:t>
            </a:r>
          </a:p>
          <a:p>
            <a:pPr algn="l">
              <a:spcAft>
                <a:spcPts val="800"/>
              </a:spcAft>
            </a:pPr>
            <a:r>
              <a:rPr sz="1800" b="0">
                <a:solidFill>
                  <a:srgbClr val="1A1A1A"/>
                </a:solidFill>
                <a:latin typeface="Segoe UI"/>
              </a:rPr>
              <a:t>•  Wetter allein erklärt unter 0.3 % der Verspätungs-Schwankung</a:t>
            </a:r>
          </a:p>
        </p:txBody>
      </p:sp>
      <p:sp>
        <p:nvSpPr>
          <p:cNvPr id="6" name="Rounded Rectangle 5"/>
          <p:cNvSpPr/>
          <p:nvPr/>
        </p:nvSpPr>
        <p:spPr>
          <a:xfrm>
            <a:off x="640080" y="5532120"/>
            <a:ext cx="10908792" cy="777240"/>
          </a:xfrm>
          <a:prstGeom prst="roundRect">
            <a:avLst/>
          </a:prstGeom>
          <a:solidFill>
            <a:srgbClr val="FCE9E9"/>
          </a:solidFill>
          <a:ln w="12700">
            <a:solidFill>
              <a:srgbClr val="EB0000"/>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lstStyle/>
          <a:p>
            <a:pPr algn="ctr"/>
            <a:r>
              <a:rPr sz="1400" b="1">
                <a:solidFill>
                  <a:srgbClr val="1A1A1A"/>
                </a:solidFill>
                <a:latin typeface="Segoe UI"/>
              </a:rPr>
              <a:t>Mehr Regen → minim mehr Verspätung, aber der Effekt ist praktisch vernachlässigbar.</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Ergebnis F4 — Multiple Regression (OLS)</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03_analyse_visualisierung_cell30_plot0.png"/>
          <p:cNvPicPr>
            <a:picLocks noChangeAspect="1"/>
          </p:cNvPicPr>
          <p:nvPr/>
        </p:nvPicPr>
        <p:blipFill>
          <a:blip r:embed="rId3"/>
          <a:stretch>
            <a:fillRect/>
          </a:stretch>
        </p:blipFill>
        <p:spPr>
          <a:xfrm>
            <a:off x="2054104" y="1371600"/>
            <a:ext cx="8083486" cy="4526280"/>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R² = 0.0430 (~4.3 %). Rush-Hour +10 s, Wochenende −12 s. Diagnostik offen ausgewiesen (Heteroskedastizität, VIF unauffällig).</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Zeitliches Muster — Stunde × Wochentag</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03_analyse_visualisierung_cell33_plot0.png"/>
          <p:cNvPicPr>
            <a:picLocks noChangeAspect="1"/>
          </p:cNvPicPr>
          <p:nvPr/>
        </p:nvPicPr>
        <p:blipFill>
          <a:blip r:embed="rId3"/>
          <a:stretch>
            <a:fillRect/>
          </a:stretch>
        </p:blipFill>
        <p:spPr>
          <a:xfrm>
            <a:off x="792327" y="1371600"/>
            <a:ext cx="10607040" cy="4415756"/>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Mittlere Verspätung je Wochentag und Stunde. Dunkler = mehr Verspätung.</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822960" y="1325880"/>
            <a:ext cx="10515600" cy="1828800"/>
          </a:xfrm>
          <a:prstGeom prst="rect">
            <a:avLst/>
          </a:prstGeom>
          <a:noFill/>
          <a:ln/>
        </p:spPr>
        <p:txBody>
          <a:bodyPr wrap="square" lIns="0" tIns="0" rIns="0" bIns="0" rtlCol="0" anchor="ctr"/>
          <a:lstStyle/>
          <a:p>
            <a:pPr marL="0" indent="0" algn="l">
              <a:buNone/>
            </a:pPr>
            <a:r>
              <a:rPr lang="en-US" sz="1500" b="1" kern="0" spc="400" dirty="0">
                <a:solidFill>
                  <a:srgbClr val="EB0000"/>
                </a:solidFill>
                <a:latin typeface="Segoe UI" pitchFamily="34" charset="0"/>
                <a:ea typeface="Segoe UI" pitchFamily="34" charset="-122"/>
                <a:cs typeface="Segoe UI" pitchFamily="34" charset="-120"/>
              </a:rPr>
              <a:t>ANWENDUNGSBEISPIEL</a:t>
            </a:r>
            <a:endParaRPr lang="en-US" sz="1500" dirty="0"/>
          </a:p>
          <a:p>
            <a:pPr marL="0" indent="0" algn="l">
              <a:buNone/>
            </a:pPr>
            <a:r>
              <a:rPr lang="en-US" sz="4000" b="1" dirty="0">
                <a:solidFill>
                  <a:srgbClr val="FFFFFF"/>
                </a:solidFill>
                <a:latin typeface="Segoe UI" pitchFamily="34" charset="0"/>
                <a:ea typeface="Segoe UI" pitchFamily="34" charset="-122"/>
                <a:cs typeface="Segoe UI" pitchFamily="34" charset="-120"/>
              </a:rPr>
              <a:t>Grossis Reise zum Schloss Chillon</a:t>
            </a:r>
            <a:endParaRPr lang="en-US" sz="1500" dirty="0"/>
          </a:p>
        </p:txBody>
      </p:sp>
      <p:sp>
        <p:nvSpPr>
          <p:cNvPr id="4" name="Text 2"/>
          <p:cNvSpPr/>
          <p:nvPr/>
        </p:nvSpPr>
        <p:spPr>
          <a:xfrm>
            <a:off x="841248" y="3200400"/>
            <a:ext cx="10058400" cy="457200"/>
          </a:xfrm>
          <a:prstGeom prst="rect">
            <a:avLst/>
          </a:prstGeom>
          <a:noFill/>
          <a:ln/>
        </p:spPr>
        <p:txBody>
          <a:bodyPr wrap="square" rtlCol="0" anchor="ctr"/>
          <a:lstStyle/>
          <a:p>
            <a:pPr marL="0" indent="0">
              <a:buNone/>
            </a:pPr>
            <a:r>
              <a:rPr lang="en-US" sz="1800" i="1" dirty="0">
                <a:solidFill>
                  <a:srgbClr val="C9C9C9"/>
                </a:solidFill>
                <a:latin typeface="Segoe UI" pitchFamily="34" charset="0"/>
                <a:ea typeface="Segoe UI" pitchFamily="34" charset="-122"/>
                <a:cs typeface="Segoe UI" pitchFamily="34" charset="-120"/>
              </a:rPr>
              <a:t>Wie zwei echte Menschen mit dem SBB Tracker eine stressfreie Reise planen</a:t>
            </a:r>
            <a:endParaRPr lang="en-US" sz="1800" dirty="0"/>
          </a:p>
        </p:txBody>
      </p:sp>
      <p:pic>
        <p:nvPicPr>
          <p:cNvPr id="5" name="Image 0" descr="/home/claude/assets/grossi_sq.png"/>
          <p:cNvPicPr>
            <a:picLocks noChangeAspect="1"/>
          </p:cNvPicPr>
          <p:nvPr/>
        </p:nvPicPr>
        <p:blipFill>
          <a:blip r:embed="rId3"/>
          <a:stretch>
            <a:fillRect/>
          </a:stretch>
        </p:blipFill>
        <p:spPr>
          <a:xfrm>
            <a:off x="7818120" y="3886200"/>
            <a:ext cx="1828800" cy="1828800"/>
          </a:xfrm>
          <a:prstGeom prst="ellipse">
            <a:avLst/>
          </a:prstGeom>
        </p:spPr>
      </p:pic>
      <p:pic>
        <p:nvPicPr>
          <p:cNvPr id="6" name="Image 1" descr="/home/claude/assets/thomas_sq.png"/>
          <p:cNvPicPr>
            <a:picLocks noChangeAspect="1"/>
          </p:cNvPicPr>
          <p:nvPr/>
        </p:nvPicPr>
        <p:blipFill>
          <a:blip r:embed="rId4"/>
          <a:stretch>
            <a:fillRect/>
          </a:stretch>
        </p:blipFill>
        <p:spPr>
          <a:xfrm>
            <a:off x="9829800" y="3886200"/>
            <a:ext cx="1828800" cy="1828800"/>
          </a:xfrm>
          <a:prstGeom prst="ellipse">
            <a:avLst/>
          </a:prstGeom>
        </p:spPr>
      </p:pic>
      <p:sp>
        <p:nvSpPr>
          <p:cNvPr id="7" name="Text 3"/>
          <p:cNvSpPr/>
          <p:nvPr/>
        </p:nvSpPr>
        <p:spPr>
          <a:xfrm>
            <a:off x="7818120" y="5760720"/>
            <a:ext cx="1828800" cy="27432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Grossi · 89</a:t>
            </a:r>
            <a:endParaRPr lang="en-US" sz="1300" dirty="0"/>
          </a:p>
        </p:txBody>
      </p:sp>
      <p:sp>
        <p:nvSpPr>
          <p:cNvPr id="8" name="Text 4"/>
          <p:cNvSpPr/>
          <p:nvPr/>
        </p:nvSpPr>
        <p:spPr>
          <a:xfrm>
            <a:off x="9829800" y="5760720"/>
            <a:ext cx="1828800" cy="27432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Thomas · 30</a:t>
            </a:r>
            <a:endParaRPr lang="en-US" sz="1300" dirty="0"/>
          </a:p>
        </p:txBody>
      </p:sp>
      <p:sp>
        <p:nvSpPr>
          <p:cNvPr id="9"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Die zwei Hauptpersonen</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sp>
        <p:nvSpPr>
          <p:cNvPr id="5" name="Shape 3"/>
          <p:cNvSpPr/>
          <p:nvPr/>
        </p:nvSpPr>
        <p:spPr>
          <a:xfrm>
            <a:off x="640080" y="1417320"/>
            <a:ext cx="5349240" cy="4709160"/>
          </a:xfrm>
          <a:prstGeom prst="roundRect">
            <a:avLst>
              <a:gd name="adj" fmla="val 2330"/>
            </a:avLst>
          </a:prstGeom>
          <a:solidFill>
            <a:srgbClr val="F3E9E4"/>
          </a:solidFill>
          <a:ln/>
        </p:spPr>
        <p:txBody>
          <a:bodyPr/>
          <a:lstStyle/>
          <a:p>
            <a:endParaRPr/>
          </a:p>
        </p:txBody>
      </p:sp>
      <p:pic>
        <p:nvPicPr>
          <p:cNvPr id="6" name="Image 0" descr="/home/claude/assets/grossi_sq.png"/>
          <p:cNvPicPr>
            <a:picLocks noChangeAspect="1"/>
          </p:cNvPicPr>
          <p:nvPr/>
        </p:nvPicPr>
        <p:blipFill>
          <a:blip r:embed="rId3"/>
          <a:stretch>
            <a:fillRect/>
          </a:stretch>
        </p:blipFill>
        <p:spPr>
          <a:xfrm>
            <a:off x="2468880" y="1691640"/>
            <a:ext cx="1691640" cy="1691640"/>
          </a:xfrm>
          <a:prstGeom prst="ellipse">
            <a:avLst/>
          </a:prstGeom>
        </p:spPr>
      </p:pic>
      <p:sp>
        <p:nvSpPr>
          <p:cNvPr id="7" name="Text 4"/>
          <p:cNvSpPr/>
          <p:nvPr/>
        </p:nvSpPr>
        <p:spPr>
          <a:xfrm>
            <a:off x="640080" y="3520440"/>
            <a:ext cx="5349240" cy="320040"/>
          </a:xfrm>
          <a:prstGeom prst="rect">
            <a:avLst/>
          </a:prstGeom>
          <a:noFill/>
          <a:ln/>
        </p:spPr>
        <p:txBody>
          <a:bodyPr wrap="square" rtlCol="0" anchor="ctr"/>
          <a:lstStyle/>
          <a:p>
            <a:pPr marL="0" indent="0" algn="ctr">
              <a:buNone/>
            </a:pPr>
            <a:r>
              <a:rPr lang="en-US" sz="1400" b="1" dirty="0">
                <a:solidFill>
                  <a:srgbClr val="EB0000"/>
                </a:solidFill>
                <a:latin typeface="Segoe UI" pitchFamily="34" charset="0"/>
                <a:ea typeface="Segoe UI" pitchFamily="34" charset="-122"/>
                <a:cs typeface="Segoe UI" pitchFamily="34" charset="-120"/>
              </a:rPr>
              <a:t>GROSSI · 89 JAHRE</a:t>
            </a:r>
            <a:endParaRPr lang="en-US" sz="1400" dirty="0"/>
          </a:p>
        </p:txBody>
      </p:sp>
      <p:sp>
        <p:nvSpPr>
          <p:cNvPr id="8" name="Text 5"/>
          <p:cNvSpPr/>
          <p:nvPr/>
        </p:nvSpPr>
        <p:spPr>
          <a:xfrm>
            <a:off x="1005840" y="3886200"/>
            <a:ext cx="4663440" cy="2103120"/>
          </a:xfrm>
          <a:prstGeom prst="rect">
            <a:avLst/>
          </a:prstGeom>
          <a:noFill/>
          <a:ln/>
        </p:spPr>
        <p:txBody>
          <a:bodyPr wrap="square" rtlCol="0" anchor="t"/>
          <a:lstStyle/>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War mit 21 Au-pair in Lausanne</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Lernte am Schloss Chillon den Maler Luc kennen — er verschwand, schickte ihr aber ein Gemälde des Schlosses</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Reist am liebsten mit dem Zug: ruhig statt wild</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Ihr Traum: einmal zurück zum Schloss</a:t>
            </a:r>
            <a:endParaRPr lang="en-US" sz="1400" dirty="0"/>
          </a:p>
        </p:txBody>
      </p:sp>
      <p:sp>
        <p:nvSpPr>
          <p:cNvPr id="9" name="Shape 6"/>
          <p:cNvSpPr/>
          <p:nvPr/>
        </p:nvSpPr>
        <p:spPr>
          <a:xfrm>
            <a:off x="6199632" y="1417320"/>
            <a:ext cx="5349240" cy="4709160"/>
          </a:xfrm>
          <a:prstGeom prst="roundRect">
            <a:avLst>
              <a:gd name="adj" fmla="val 2330"/>
            </a:avLst>
          </a:prstGeom>
          <a:solidFill>
            <a:srgbClr val="E2EBE6"/>
          </a:solidFill>
          <a:ln/>
        </p:spPr>
        <p:txBody>
          <a:bodyPr/>
          <a:lstStyle/>
          <a:p>
            <a:endParaRPr/>
          </a:p>
        </p:txBody>
      </p:sp>
      <p:pic>
        <p:nvPicPr>
          <p:cNvPr id="10" name="Image 1" descr="/home/claude/assets/thomas_sq.png"/>
          <p:cNvPicPr>
            <a:picLocks noChangeAspect="1"/>
          </p:cNvPicPr>
          <p:nvPr/>
        </p:nvPicPr>
        <p:blipFill>
          <a:blip r:embed="rId4"/>
          <a:stretch>
            <a:fillRect/>
          </a:stretch>
        </p:blipFill>
        <p:spPr>
          <a:xfrm>
            <a:off x="8028432" y="1691640"/>
            <a:ext cx="1691640" cy="1691640"/>
          </a:xfrm>
          <a:prstGeom prst="ellipse">
            <a:avLst/>
          </a:prstGeom>
        </p:spPr>
      </p:pic>
      <p:sp>
        <p:nvSpPr>
          <p:cNvPr id="11" name="Text 7"/>
          <p:cNvSpPr/>
          <p:nvPr/>
        </p:nvSpPr>
        <p:spPr>
          <a:xfrm>
            <a:off x="6199632" y="3520440"/>
            <a:ext cx="5349240" cy="320040"/>
          </a:xfrm>
          <a:prstGeom prst="rect">
            <a:avLst/>
          </a:prstGeom>
          <a:noFill/>
          <a:ln/>
        </p:spPr>
        <p:txBody>
          <a:bodyPr wrap="square" rtlCol="0" anchor="ctr"/>
          <a:lstStyle/>
          <a:p>
            <a:pPr marL="0" indent="0" algn="ctr">
              <a:buNone/>
            </a:pPr>
            <a:r>
              <a:rPr lang="en-US" sz="1400" b="1" dirty="0">
                <a:solidFill>
                  <a:srgbClr val="2E4A5C"/>
                </a:solidFill>
                <a:latin typeface="Segoe UI" pitchFamily="34" charset="0"/>
                <a:ea typeface="Segoe UI" pitchFamily="34" charset="-122"/>
                <a:cs typeface="Segoe UI" pitchFamily="34" charset="-120"/>
              </a:rPr>
              <a:t>THOMAS · 30 JAHRE</a:t>
            </a:r>
            <a:endParaRPr lang="en-US" sz="1400" dirty="0"/>
          </a:p>
        </p:txBody>
      </p:sp>
      <p:sp>
        <p:nvSpPr>
          <p:cNvPr id="12" name="Text 8"/>
          <p:cNvSpPr/>
          <p:nvPr/>
        </p:nvSpPr>
        <p:spPr>
          <a:xfrm>
            <a:off x="6565392" y="3886200"/>
            <a:ext cx="4663440" cy="2103120"/>
          </a:xfrm>
          <a:prstGeom prst="rect">
            <a:avLst/>
          </a:prstGeom>
          <a:noFill/>
          <a:ln/>
        </p:spPr>
        <p:txBody>
          <a:bodyPr wrap="square" rtlCol="0" anchor="t"/>
          <a:lstStyle/>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Grossis Enkel</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Will ihr den Traum erfüllen und die Reise schenken</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Grossi ist nicht mehr so stark — die Reise muss ruhig und planbar sein</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Sein Werkzeug: der SBB Tracker</a:t>
            </a:r>
            <a:endParaRPr lang="en-US" sz="1400" dirty="0"/>
          </a:p>
        </p:txBody>
      </p:sp>
      <p:sp>
        <p:nvSpPr>
          <p:cNvPr id="13" name="Text 9"/>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4" name="Text 10"/>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5"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Der Wunsch</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pic>
        <p:nvPicPr>
          <p:cNvPr id="5" name="Image 0" descr="/home/claude/assets/grossi_sq.png"/>
          <p:cNvPicPr>
            <a:picLocks noChangeAspect="1"/>
          </p:cNvPicPr>
          <p:nvPr/>
        </p:nvPicPr>
        <p:blipFill>
          <a:blip r:embed="rId3"/>
          <a:stretch>
            <a:fillRect/>
          </a:stretch>
        </p:blipFill>
        <p:spPr>
          <a:xfrm>
            <a:off x="731520" y="1920240"/>
            <a:ext cx="2011680" cy="2011680"/>
          </a:xfrm>
          <a:prstGeom prst="ellipse">
            <a:avLst/>
          </a:prstGeom>
        </p:spPr>
      </p:pic>
      <p:sp>
        <p:nvSpPr>
          <p:cNvPr id="6" name="Text 3"/>
          <p:cNvSpPr/>
          <p:nvPr/>
        </p:nvSpPr>
        <p:spPr>
          <a:xfrm>
            <a:off x="731520" y="3977640"/>
            <a:ext cx="2011680" cy="274320"/>
          </a:xfrm>
          <a:prstGeom prst="rect">
            <a:avLst/>
          </a:prstGeom>
          <a:noFill/>
          <a:ln/>
        </p:spPr>
        <p:txBody>
          <a:bodyPr wrap="square" rtlCol="0" anchor="ctr"/>
          <a:lstStyle/>
          <a:p>
            <a:pPr marL="0" indent="0" algn="ctr">
              <a:buNone/>
            </a:pPr>
            <a:r>
              <a:rPr lang="en-US" sz="1300" b="1" dirty="0">
                <a:solidFill>
                  <a:srgbClr val="EB0000"/>
                </a:solidFill>
                <a:latin typeface="Segoe UI" pitchFamily="34" charset="0"/>
                <a:ea typeface="Segoe UI" pitchFamily="34" charset="-122"/>
                <a:cs typeface="Segoe UI" pitchFamily="34" charset="-120"/>
              </a:rPr>
              <a:t>Grossi</a:t>
            </a:r>
            <a:endParaRPr lang="en-US" sz="1300" dirty="0"/>
          </a:p>
        </p:txBody>
      </p:sp>
      <p:sp>
        <p:nvSpPr>
          <p:cNvPr id="7" name="Shape 4"/>
          <p:cNvSpPr/>
          <p:nvPr/>
        </p:nvSpPr>
        <p:spPr>
          <a:xfrm>
            <a:off x="3063240" y="1691640"/>
            <a:ext cx="8321040" cy="1097280"/>
          </a:xfrm>
          <a:prstGeom prst="roundRect">
            <a:avLst>
              <a:gd name="adj" fmla="val 8333"/>
            </a:avLst>
          </a:prstGeom>
          <a:solidFill>
            <a:srgbClr val="FBEFE9"/>
          </a:solidFill>
          <a:ln/>
          <a:effectLst>
            <a:outerShdw blurRad="88900" dist="38100" dir="8100000" algn="bl" rotWithShape="0">
              <a:srgbClr val="000000">
                <a:alpha val="12000"/>
              </a:srgbClr>
            </a:outerShdw>
          </a:effectLst>
        </p:spPr>
        <p:txBody>
          <a:bodyPr/>
          <a:lstStyle/>
          <a:p>
            <a:endParaRPr/>
          </a:p>
        </p:txBody>
      </p:sp>
      <p:sp>
        <p:nvSpPr>
          <p:cNvPr id="8" name="Shape 5"/>
          <p:cNvSpPr/>
          <p:nvPr/>
        </p:nvSpPr>
        <p:spPr>
          <a:xfrm rot="10800000">
            <a:off x="3566160" y="2770632"/>
            <a:ext cx="320040" cy="256032"/>
          </a:xfrm>
          <a:prstGeom prst="triangle">
            <a:avLst/>
          </a:prstGeom>
          <a:solidFill>
            <a:srgbClr val="FBEFE9"/>
          </a:solidFill>
          <a:ln/>
        </p:spPr>
        <p:txBody>
          <a:bodyPr/>
          <a:lstStyle/>
          <a:p>
            <a:endParaRPr/>
          </a:p>
        </p:txBody>
      </p:sp>
      <p:sp>
        <p:nvSpPr>
          <p:cNvPr id="9" name="Text 6"/>
          <p:cNvSpPr/>
          <p:nvPr/>
        </p:nvSpPr>
        <p:spPr>
          <a:xfrm>
            <a:off x="3319272" y="1783080"/>
            <a:ext cx="7808976" cy="914400"/>
          </a:xfrm>
          <a:prstGeom prst="rect">
            <a:avLst/>
          </a:prstGeom>
          <a:noFill/>
          <a:ln/>
        </p:spPr>
        <p:txBody>
          <a:bodyPr wrap="square" lIns="0" tIns="0" rIns="0" bIns="0" rtlCol="0" anchor="ctr"/>
          <a:lstStyle/>
          <a:p>
            <a:pPr marL="0" indent="0" algn="l">
              <a:buNone/>
            </a:pPr>
            <a:r>
              <a:rPr lang="en-US" sz="1500" i="1" dirty="0">
                <a:solidFill>
                  <a:srgbClr val="1A1A1A"/>
                </a:solidFill>
                <a:latin typeface="Segoe UI" pitchFamily="34" charset="0"/>
                <a:ea typeface="Segoe UI" pitchFamily="34" charset="-122"/>
                <a:cs typeface="Segoe UI" pitchFamily="34" charset="-120"/>
              </a:rPr>
              <a:t>«Den Zug mag ich am liebsten — schön ruhig. Aber so eine weite Reise … nur bitte nicht im grossen Gedränge.»</a:t>
            </a:r>
            <a:endParaRPr lang="en-US" sz="1500" dirty="0"/>
          </a:p>
        </p:txBody>
      </p:sp>
      <p:pic>
        <p:nvPicPr>
          <p:cNvPr id="10" name="Image 1" descr="/home/claude/assets/thomas_sq.png"/>
          <p:cNvPicPr>
            <a:picLocks noChangeAspect="1"/>
          </p:cNvPicPr>
          <p:nvPr/>
        </p:nvPicPr>
        <p:blipFill>
          <a:blip r:embed="rId4"/>
          <a:stretch>
            <a:fillRect/>
          </a:stretch>
        </p:blipFill>
        <p:spPr>
          <a:xfrm>
            <a:off x="9418320" y="4114800"/>
            <a:ext cx="2011680" cy="2011680"/>
          </a:xfrm>
          <a:prstGeom prst="ellipse">
            <a:avLst/>
          </a:prstGeom>
        </p:spPr>
      </p:pic>
      <p:sp>
        <p:nvSpPr>
          <p:cNvPr id="11" name="Text 7"/>
          <p:cNvSpPr/>
          <p:nvPr/>
        </p:nvSpPr>
        <p:spPr>
          <a:xfrm>
            <a:off x="9418320" y="6172200"/>
            <a:ext cx="2011680" cy="274320"/>
          </a:xfrm>
          <a:prstGeom prst="rect">
            <a:avLst/>
          </a:prstGeom>
          <a:noFill/>
          <a:ln/>
        </p:spPr>
        <p:txBody>
          <a:bodyPr wrap="square" rtlCol="0" anchor="ctr"/>
          <a:lstStyle/>
          <a:p>
            <a:pPr marL="0" indent="0" algn="ctr">
              <a:buNone/>
            </a:pPr>
            <a:r>
              <a:rPr lang="en-US" sz="1300" b="1" dirty="0">
                <a:solidFill>
                  <a:srgbClr val="2E4A5C"/>
                </a:solidFill>
                <a:latin typeface="Segoe UI" pitchFamily="34" charset="0"/>
                <a:ea typeface="Segoe UI" pitchFamily="34" charset="-122"/>
                <a:cs typeface="Segoe UI" pitchFamily="34" charset="-120"/>
              </a:rPr>
              <a:t>Thomas</a:t>
            </a:r>
            <a:endParaRPr lang="en-US" sz="1300" dirty="0"/>
          </a:p>
        </p:txBody>
      </p:sp>
      <p:sp>
        <p:nvSpPr>
          <p:cNvPr id="12" name="Shape 8"/>
          <p:cNvSpPr/>
          <p:nvPr/>
        </p:nvSpPr>
        <p:spPr>
          <a:xfrm>
            <a:off x="777240" y="4526280"/>
            <a:ext cx="8321040" cy="1097280"/>
          </a:xfrm>
          <a:prstGeom prst="roundRect">
            <a:avLst>
              <a:gd name="adj" fmla="val 8333"/>
            </a:avLst>
          </a:prstGeom>
          <a:solidFill>
            <a:srgbClr val="E9F1EC"/>
          </a:solidFill>
          <a:ln/>
          <a:effectLst>
            <a:outerShdw blurRad="88900" dist="38100" dir="8100000" algn="bl" rotWithShape="0">
              <a:srgbClr val="000000">
                <a:alpha val="12000"/>
              </a:srgbClr>
            </a:outerShdw>
          </a:effectLst>
        </p:spPr>
        <p:txBody>
          <a:bodyPr/>
          <a:lstStyle/>
          <a:p>
            <a:endParaRPr/>
          </a:p>
        </p:txBody>
      </p:sp>
      <p:sp>
        <p:nvSpPr>
          <p:cNvPr id="13" name="Shape 9"/>
          <p:cNvSpPr/>
          <p:nvPr/>
        </p:nvSpPr>
        <p:spPr>
          <a:xfrm rot="10800000">
            <a:off x="8275320" y="5605272"/>
            <a:ext cx="320040" cy="256032"/>
          </a:xfrm>
          <a:prstGeom prst="triangle">
            <a:avLst/>
          </a:prstGeom>
          <a:solidFill>
            <a:srgbClr val="E9F1EC"/>
          </a:solidFill>
          <a:ln/>
        </p:spPr>
        <p:txBody>
          <a:bodyPr/>
          <a:lstStyle/>
          <a:p>
            <a:endParaRPr/>
          </a:p>
        </p:txBody>
      </p:sp>
      <p:sp>
        <p:nvSpPr>
          <p:cNvPr id="14" name="Text 10"/>
          <p:cNvSpPr/>
          <p:nvPr/>
        </p:nvSpPr>
        <p:spPr>
          <a:xfrm>
            <a:off x="1033272" y="4617720"/>
            <a:ext cx="7808976" cy="914400"/>
          </a:xfrm>
          <a:prstGeom prst="rect">
            <a:avLst/>
          </a:prstGeom>
          <a:noFill/>
          <a:ln/>
        </p:spPr>
        <p:txBody>
          <a:bodyPr wrap="square" lIns="0" tIns="0" rIns="0" bIns="0" rtlCol="0" anchor="ctr"/>
          <a:lstStyle/>
          <a:p>
            <a:pPr marL="0" indent="0" algn="l">
              <a:buNone/>
            </a:pPr>
            <a:r>
              <a:rPr lang="en-US" sz="1500" i="1" dirty="0">
                <a:solidFill>
                  <a:srgbClr val="1A1A1A"/>
                </a:solidFill>
                <a:latin typeface="Segoe UI" pitchFamily="34" charset="0"/>
                <a:ea typeface="Segoe UI" pitchFamily="34" charset="-122"/>
                <a:cs typeface="Segoe UI" pitchFamily="34" charset="-120"/>
              </a:rPr>
              <a:t>«Dann finden wir mit der App heraus, wann und wo am wenigsten los ist — und welcher Umstieg der entspannteste ist.»</a:t>
            </a:r>
            <a:endParaRPr lang="en-US" sz="1500" dirty="0"/>
          </a:p>
        </p:txBody>
      </p:sp>
      <p:sp>
        <p:nvSpPr>
          <p:cNvPr id="15" name="Text 11"/>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6" name="Text 12"/>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Schritt 1 — die Karte: wo ist am meisten los?</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pic>
        <p:nvPicPr>
          <p:cNvPr id="5" name="Image 0" descr="/home/claude/assets/train.png"/>
          <p:cNvPicPr>
            <a:picLocks noChangeAspect="1"/>
          </p:cNvPicPr>
          <p:nvPr/>
        </p:nvPicPr>
        <p:blipFill>
          <a:blip r:embed="rId3"/>
          <a:stretch>
            <a:fillRect/>
          </a:stretch>
        </p:blipFill>
        <p:spPr>
          <a:xfrm>
            <a:off x="3108960" y="1371600"/>
            <a:ext cx="5943600" cy="756231"/>
          </a:xfrm>
          <a:prstGeom prst="rect">
            <a:avLst/>
          </a:prstGeom>
        </p:spPr>
      </p:pic>
      <p:sp>
        <p:nvSpPr>
          <p:cNvPr id="6" name="Text 3"/>
          <p:cNvSpPr/>
          <p:nvPr/>
        </p:nvSpPr>
        <p:spPr>
          <a:xfrm>
            <a:off x="3108960" y="2121408"/>
            <a:ext cx="5943600" cy="320040"/>
          </a:xfrm>
          <a:prstGeom prst="rect">
            <a:avLst/>
          </a:prstGeom>
          <a:noFill/>
          <a:ln/>
        </p:spPr>
        <p:txBody>
          <a:bodyPr wrap="square" rtlCol="0" anchor="ctr"/>
          <a:lstStyle/>
          <a:p>
            <a:pPr marL="0" indent="0" algn="ctr">
              <a:buNone/>
            </a:pPr>
            <a:r>
              <a:rPr lang="en-US" sz="1200" i="1" dirty="0">
                <a:solidFill>
                  <a:srgbClr val="595959"/>
                </a:solidFill>
                <a:latin typeface="Segoe UI" pitchFamily="34" charset="0"/>
                <a:ea typeface="Segoe UI" pitchFamily="34" charset="-122"/>
                <a:cs typeface="Segoe UI" pitchFamily="34" charset="-120"/>
              </a:rPr>
              <a:t>Beim Laden fährt ein SBB-Zug über die Gleise — Grossi ist begeistert.</a:t>
            </a:r>
            <a:endParaRPr lang="en-US" sz="1200" dirty="0"/>
          </a:p>
        </p:txBody>
      </p:sp>
      <p:pic>
        <p:nvPicPr>
          <p:cNvPr id="7" name="Image 1" descr="/home/claude/assets/st_map.png"/>
          <p:cNvPicPr>
            <a:picLocks noChangeAspect="1"/>
          </p:cNvPicPr>
          <p:nvPr/>
        </p:nvPicPr>
        <p:blipFill>
          <a:blip r:embed="rId4"/>
          <a:srcRect l="-8629" r="-8629"/>
          <a:stretch/>
        </p:blipFill>
        <p:spPr>
          <a:xfrm>
            <a:off x="3154680" y="2514600"/>
            <a:ext cx="5879592" cy="3566160"/>
          </a:xfrm>
          <a:prstGeom prst="rect">
            <a:avLst/>
          </a:prstGeom>
        </p:spPr>
      </p:pic>
      <p:pic>
        <p:nvPicPr>
          <p:cNvPr id="8" name="Image 2" descr="/home/claude/assets/grossi_sq.png"/>
          <p:cNvPicPr>
            <a:picLocks noChangeAspect="1"/>
          </p:cNvPicPr>
          <p:nvPr/>
        </p:nvPicPr>
        <p:blipFill>
          <a:blip r:embed="rId5"/>
          <a:stretch>
            <a:fillRect/>
          </a:stretch>
        </p:blipFill>
        <p:spPr>
          <a:xfrm>
            <a:off x="640080" y="2743200"/>
            <a:ext cx="1371600" cy="1371600"/>
          </a:xfrm>
          <a:prstGeom prst="ellipse">
            <a:avLst/>
          </a:prstGeom>
        </p:spPr>
      </p:pic>
      <p:sp>
        <p:nvSpPr>
          <p:cNvPr id="9" name="Shape 4"/>
          <p:cNvSpPr/>
          <p:nvPr/>
        </p:nvSpPr>
        <p:spPr>
          <a:xfrm>
            <a:off x="502920" y="4206240"/>
            <a:ext cx="2514600" cy="1417320"/>
          </a:xfrm>
          <a:prstGeom prst="roundRect">
            <a:avLst>
              <a:gd name="adj" fmla="val 6452"/>
            </a:avLst>
          </a:prstGeom>
          <a:solidFill>
            <a:srgbClr val="FBEFE9"/>
          </a:solidFill>
          <a:ln/>
          <a:effectLst>
            <a:outerShdw blurRad="88900" dist="38100" dir="8100000" algn="bl" rotWithShape="0">
              <a:srgbClr val="000000">
                <a:alpha val="12000"/>
              </a:srgbClr>
            </a:outerShdw>
          </a:effectLst>
        </p:spPr>
        <p:txBody>
          <a:bodyPr/>
          <a:lstStyle/>
          <a:p>
            <a:endParaRPr/>
          </a:p>
        </p:txBody>
      </p:sp>
      <p:sp>
        <p:nvSpPr>
          <p:cNvPr id="10" name="Shape 5"/>
          <p:cNvSpPr/>
          <p:nvPr/>
        </p:nvSpPr>
        <p:spPr>
          <a:xfrm rot="10800000">
            <a:off x="1005840" y="5605272"/>
            <a:ext cx="320040" cy="256032"/>
          </a:xfrm>
          <a:prstGeom prst="triangle">
            <a:avLst/>
          </a:prstGeom>
          <a:solidFill>
            <a:srgbClr val="FBEFE9"/>
          </a:solidFill>
          <a:ln/>
        </p:spPr>
        <p:txBody>
          <a:bodyPr/>
          <a:lstStyle/>
          <a:p>
            <a:endParaRPr/>
          </a:p>
        </p:txBody>
      </p:sp>
      <p:sp>
        <p:nvSpPr>
          <p:cNvPr id="11" name="Text 6"/>
          <p:cNvSpPr/>
          <p:nvPr/>
        </p:nvSpPr>
        <p:spPr>
          <a:xfrm>
            <a:off x="758952" y="4297680"/>
            <a:ext cx="2002536" cy="1234440"/>
          </a:xfrm>
          <a:prstGeom prst="rect">
            <a:avLst/>
          </a:prstGeom>
          <a:noFill/>
          <a:ln/>
        </p:spPr>
        <p:txBody>
          <a:bodyPr wrap="square" lIns="0" tIns="0" rIns="0" bIns="0" rtlCol="0" anchor="ctr"/>
          <a:lstStyle/>
          <a:p>
            <a:pPr marL="0" indent="0" algn="l">
              <a:buNone/>
            </a:pPr>
            <a:r>
              <a:rPr lang="en-US" sz="1200" i="1" dirty="0">
                <a:solidFill>
                  <a:srgbClr val="1A1A1A"/>
                </a:solidFill>
                <a:latin typeface="Segoe UI" pitchFamily="34" charset="0"/>
                <a:ea typeface="Segoe UI" pitchFamily="34" charset="-122"/>
                <a:cs typeface="Segoe UI" pitchFamily="34" charset="-120"/>
              </a:rPr>
              <a:t>«So viele Bahnhöfe! Und alles in Farbe.»</a:t>
            </a:r>
            <a:endParaRPr lang="en-US" sz="1200" dirty="0"/>
          </a:p>
        </p:txBody>
      </p:sp>
      <p:sp>
        <p:nvSpPr>
          <p:cNvPr id="12" name="Text 7"/>
          <p:cNvSpPr/>
          <p:nvPr/>
        </p:nvSpPr>
        <p:spPr>
          <a:xfrm>
            <a:off x="9189720" y="3108960"/>
            <a:ext cx="2468880" cy="2286000"/>
          </a:xfrm>
          <a:prstGeom prst="rect">
            <a:avLst/>
          </a:prstGeom>
          <a:noFill/>
          <a:ln/>
        </p:spPr>
        <p:txBody>
          <a:bodyPr wrap="square" rtlCol="0" anchor="t"/>
          <a:lstStyle/>
          <a:p>
            <a:pPr marL="0" indent="0">
              <a:lnSpc>
                <a:spcPct val="105000"/>
              </a:lnSpc>
              <a:buNone/>
            </a:pPr>
            <a:r>
              <a:rPr lang="en-US" sz="1400" b="1" dirty="0">
                <a:solidFill>
                  <a:srgbClr val="1A1A1A"/>
                </a:solidFill>
                <a:latin typeface="Segoe UI" pitchFamily="34" charset="0"/>
                <a:ea typeface="Segoe UI" pitchFamily="34" charset="-122"/>
                <a:cs typeface="Segoe UI" pitchFamily="34" charset="-120"/>
              </a:rPr>
              <a:t>Was Thomas zeigt:</a:t>
            </a:r>
            <a:endParaRPr lang="en-US" sz="1400" dirty="0"/>
          </a:p>
          <a:p>
            <a:pPr marL="0" indent="0">
              <a:lnSpc>
                <a:spcPct val="105000"/>
              </a:lnSpc>
              <a:buNone/>
            </a:pPr>
            <a:r>
              <a:rPr lang="en-US" sz="1300" dirty="0">
                <a:solidFill>
                  <a:srgbClr val="595959"/>
                </a:solidFill>
                <a:latin typeface="Segoe UI" pitchFamily="34" charset="0"/>
                <a:ea typeface="Segoe UI" pitchFamily="34" charset="-122"/>
                <a:cs typeface="Segoe UI" pitchFamily="34" charset="-120"/>
              </a:rPr>
              <a:t>Jeder Punkt ein Bahnhof, Farbe = Ø-Verspätung. Über den Umstieg vergleichen sie Zürich und Bern direkt auf der Karte.</a:t>
            </a:r>
            <a:endParaRPr lang="en-US" sz="1400" dirty="0"/>
          </a:p>
        </p:txBody>
      </p:sp>
      <p:sp>
        <p:nvSpPr>
          <p:cNvPr id="13" name="Text 8"/>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4" name="Text 9"/>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5"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Schritt 2 — wann reisen? Tages- &amp; Stunden-Heatmap</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pic>
        <p:nvPicPr>
          <p:cNvPr id="5" name="Image 0" descr="/home/claude/assets/st_tod.png"/>
          <p:cNvPicPr>
            <a:picLocks noChangeAspect="1"/>
          </p:cNvPicPr>
          <p:nvPr/>
        </p:nvPicPr>
        <p:blipFill>
          <a:blip r:embed="rId3"/>
          <a:srcRect l="-9741" r="-9741"/>
          <a:stretch/>
        </p:blipFill>
        <p:spPr>
          <a:xfrm>
            <a:off x="594360" y="1417320"/>
            <a:ext cx="7680960" cy="4572000"/>
          </a:xfrm>
          <a:prstGeom prst="rect">
            <a:avLst/>
          </a:prstGeom>
        </p:spPr>
      </p:pic>
      <p:sp>
        <p:nvSpPr>
          <p:cNvPr id="6" name="Shape 3"/>
          <p:cNvSpPr/>
          <p:nvPr/>
        </p:nvSpPr>
        <p:spPr>
          <a:xfrm>
            <a:off x="8458200" y="1463040"/>
            <a:ext cx="3200400" cy="4572000"/>
          </a:xfrm>
          <a:prstGeom prst="roundRect">
            <a:avLst>
              <a:gd name="adj" fmla="val 2857"/>
            </a:avLst>
          </a:prstGeom>
          <a:solidFill>
            <a:srgbClr val="F4F4F6"/>
          </a:solidFill>
          <a:ln/>
        </p:spPr>
        <p:txBody>
          <a:bodyPr/>
          <a:lstStyle/>
          <a:p>
            <a:endParaRPr/>
          </a:p>
        </p:txBody>
      </p:sp>
      <p:pic>
        <p:nvPicPr>
          <p:cNvPr id="7" name="Image 1" descr="/home/claude/assets/thomas_sq.png"/>
          <p:cNvPicPr>
            <a:picLocks noChangeAspect="1"/>
          </p:cNvPicPr>
          <p:nvPr/>
        </p:nvPicPr>
        <p:blipFill>
          <a:blip r:embed="rId4"/>
          <a:stretch>
            <a:fillRect/>
          </a:stretch>
        </p:blipFill>
        <p:spPr>
          <a:xfrm>
            <a:off x="9509760" y="1691640"/>
            <a:ext cx="1097280" cy="1097280"/>
          </a:xfrm>
          <a:prstGeom prst="ellipse">
            <a:avLst/>
          </a:prstGeom>
        </p:spPr>
      </p:pic>
      <p:sp>
        <p:nvSpPr>
          <p:cNvPr id="8" name="Text 4"/>
          <p:cNvSpPr/>
          <p:nvPr/>
        </p:nvSpPr>
        <p:spPr>
          <a:xfrm>
            <a:off x="8686800" y="2926080"/>
            <a:ext cx="2743200" cy="2926080"/>
          </a:xfrm>
          <a:prstGeom prst="rect">
            <a:avLst/>
          </a:prstGeom>
          <a:noFill/>
          <a:ln/>
        </p:spPr>
        <p:txBody>
          <a:bodyPr wrap="square" rtlCol="0" anchor="t"/>
          <a:lstStyle/>
          <a:p>
            <a:pPr marL="0" indent="0">
              <a:lnSpc>
                <a:spcPct val="105000"/>
              </a:lnSpc>
              <a:buNone/>
            </a:pPr>
            <a:r>
              <a:rPr lang="en-US" sz="1500" b="1" dirty="0">
                <a:solidFill>
                  <a:srgbClr val="1A1A1A"/>
                </a:solidFill>
                <a:latin typeface="Segoe UI" pitchFamily="34" charset="0"/>
                <a:ea typeface="Segoe UI" pitchFamily="34" charset="-122"/>
                <a:cs typeface="Segoe UI" pitchFamily="34" charset="-120"/>
              </a:rPr>
              <a:t>Der Plan</a:t>
            </a:r>
            <a:endParaRPr lang="en-US" sz="1500" dirty="0"/>
          </a:p>
          <a:p>
            <a:pPr marL="0" indent="0">
              <a:lnSpc>
                <a:spcPct val="105000"/>
              </a:lnSpc>
              <a:buNone/>
            </a:pPr>
            <a:endParaRPr lang="en-US" sz="1500" dirty="0"/>
          </a:p>
          <a:p>
            <a:pPr marL="0" indent="0">
              <a:lnSpc>
                <a:spcPct val="105000"/>
              </a:lnSpc>
              <a:buNone/>
            </a:pPr>
            <a:r>
              <a:rPr lang="en-US" sz="1300" dirty="0">
                <a:solidFill>
                  <a:srgbClr val="595959"/>
                </a:solidFill>
                <a:latin typeface="Segoe UI" pitchFamily="34" charset="0"/>
                <a:ea typeface="Segoe UI" pitchFamily="34" charset="-122"/>
                <a:cs typeface="Segoe UI" pitchFamily="34" charset="-120"/>
              </a:rPr>
              <a:t>Dunkler = mehr Verspätung. Sie suchen ein Fenster mit wenig Last — aber nicht mitten in der Nacht.</a:t>
            </a:r>
            <a:endParaRPr lang="en-US" sz="1500" dirty="0"/>
          </a:p>
          <a:p>
            <a:pPr marL="0" indent="0">
              <a:lnSpc>
                <a:spcPct val="105000"/>
              </a:lnSpc>
              <a:buNone/>
            </a:pPr>
            <a:endParaRPr lang="en-US" sz="1500" dirty="0"/>
          </a:p>
          <a:p>
            <a:pPr marL="0" indent="0">
              <a:lnSpc>
                <a:spcPct val="105000"/>
              </a:lnSpc>
              <a:buNone/>
            </a:pPr>
            <a:r>
              <a:rPr lang="en-US" sz="1300" dirty="0">
                <a:solidFill>
                  <a:srgbClr val="595959"/>
                </a:solidFill>
                <a:latin typeface="Segoe UI" pitchFamily="34" charset="0"/>
                <a:ea typeface="Segoe UI" pitchFamily="34" charset="-122"/>
                <a:cs typeface="Segoe UI" pitchFamily="34" charset="-120"/>
              </a:rPr>
              <a:t>Im Filter geben sie Grossis Wunschdatum ein und sehen, wie es an dem Tag aussieht.</a:t>
            </a:r>
            <a:endParaRPr lang="en-US" sz="1500" dirty="0"/>
          </a:p>
          <a:p>
            <a:pPr marL="0" indent="0">
              <a:lnSpc>
                <a:spcPct val="105000"/>
              </a:lnSpc>
              <a:buNone/>
            </a:pPr>
            <a:endParaRPr lang="en-US" sz="1500" dirty="0"/>
          </a:p>
          <a:p>
            <a:pPr marL="0" indent="0">
              <a:lnSpc>
                <a:spcPct val="105000"/>
              </a:lnSpc>
              <a:buNone/>
            </a:pPr>
            <a:r>
              <a:rPr lang="en-US" sz="1300" dirty="0">
                <a:solidFill>
                  <a:srgbClr val="595959"/>
                </a:solidFill>
                <a:latin typeface="Segoe UI" pitchFamily="34" charset="0"/>
                <a:ea typeface="Segoe UI" pitchFamily="34" charset="-122"/>
                <a:cs typeface="Segoe UI" pitchFamily="34" charset="-120"/>
              </a:rPr>
              <a:t>Es wird eine 2-Tages-Reise mit Hotel — entspannter für Grossi.</a:t>
            </a:r>
            <a:endParaRPr lang="en-US" sz="1500" dirty="0"/>
          </a:p>
        </p:txBody>
      </p:sp>
      <p:sp>
        <p:nvSpPr>
          <p:cNvPr id="9" name="Text 5"/>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0" name="Text 6"/>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1"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Schritt 3 — Claude fragen, dann der Über-Tab</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pic>
        <p:nvPicPr>
          <p:cNvPr id="5" name="Image 0" descr="/home/claude/assets/st_llm.png"/>
          <p:cNvPicPr>
            <a:picLocks noChangeAspect="1"/>
          </p:cNvPicPr>
          <p:nvPr/>
        </p:nvPicPr>
        <p:blipFill>
          <a:blip r:embed="rId3"/>
          <a:srcRect l="-4465" r="-4465"/>
          <a:stretch/>
        </p:blipFill>
        <p:spPr>
          <a:xfrm>
            <a:off x="594360" y="1417320"/>
            <a:ext cx="6858000" cy="4206240"/>
          </a:xfrm>
          <a:prstGeom prst="rect">
            <a:avLst/>
          </a:prstGeom>
        </p:spPr>
      </p:pic>
      <p:pic>
        <p:nvPicPr>
          <p:cNvPr id="6" name="Image 1" descr="/home/claude/assets/st_llm_answer.png"/>
          <p:cNvPicPr>
            <a:picLocks noChangeAspect="1"/>
          </p:cNvPicPr>
          <p:nvPr/>
        </p:nvPicPr>
        <p:blipFill>
          <a:blip r:embed="rId4"/>
          <a:stretch>
            <a:fillRect/>
          </a:stretch>
        </p:blipFill>
        <p:spPr>
          <a:xfrm>
            <a:off x="7680960" y="1554480"/>
            <a:ext cx="3931920" cy="2671689"/>
          </a:xfrm>
          <a:prstGeom prst="rect">
            <a:avLst/>
          </a:prstGeom>
        </p:spPr>
      </p:pic>
      <p:sp>
        <p:nvSpPr>
          <p:cNvPr id="7" name="Text 3"/>
          <p:cNvSpPr/>
          <p:nvPr/>
        </p:nvSpPr>
        <p:spPr>
          <a:xfrm>
            <a:off x="7680960" y="4251960"/>
            <a:ext cx="3931920" cy="320040"/>
          </a:xfrm>
          <a:prstGeom prst="rect">
            <a:avLst/>
          </a:prstGeom>
          <a:noFill/>
          <a:ln/>
        </p:spPr>
        <p:txBody>
          <a:bodyPr wrap="square" rtlCol="0" anchor="ctr"/>
          <a:lstStyle/>
          <a:p>
            <a:pPr marL="0" indent="0" algn="ctr">
              <a:buNone/>
            </a:pPr>
            <a:r>
              <a:rPr lang="en-US" sz="1100" i="1" dirty="0">
                <a:solidFill>
                  <a:srgbClr val="595959"/>
                </a:solidFill>
                <a:latin typeface="Segoe UI" pitchFamily="34" charset="0"/>
                <a:ea typeface="Segoe UI" pitchFamily="34" charset="-122"/>
                <a:cs typeface="Segoe UI" pitchFamily="34" charset="-120"/>
              </a:rPr>
              <a:t>«Claude wertet die Fahrplandaten aus …» — wieder der Zug.</a:t>
            </a:r>
            <a:endParaRPr lang="en-US" sz="1100" dirty="0"/>
          </a:p>
        </p:txBody>
      </p:sp>
      <p:sp>
        <p:nvSpPr>
          <p:cNvPr id="8" name="Shape 4"/>
          <p:cNvSpPr/>
          <p:nvPr/>
        </p:nvSpPr>
        <p:spPr>
          <a:xfrm>
            <a:off x="7680960" y="4709160"/>
            <a:ext cx="3977640" cy="1234440"/>
          </a:xfrm>
          <a:prstGeom prst="roundRect">
            <a:avLst>
              <a:gd name="adj" fmla="val 7407"/>
            </a:avLst>
          </a:prstGeom>
          <a:solidFill>
            <a:srgbClr val="FBEFE9"/>
          </a:solidFill>
          <a:ln/>
          <a:effectLst>
            <a:outerShdw blurRad="88900" dist="38100" dir="8100000" algn="bl" rotWithShape="0">
              <a:srgbClr val="000000">
                <a:alpha val="12000"/>
              </a:srgbClr>
            </a:outerShdw>
          </a:effectLst>
        </p:spPr>
        <p:txBody>
          <a:bodyPr/>
          <a:lstStyle/>
          <a:p>
            <a:endParaRPr/>
          </a:p>
        </p:txBody>
      </p:sp>
      <p:sp>
        <p:nvSpPr>
          <p:cNvPr id="9" name="Shape 5"/>
          <p:cNvSpPr/>
          <p:nvPr/>
        </p:nvSpPr>
        <p:spPr>
          <a:xfrm rot="10800000">
            <a:off x="8183880" y="5925312"/>
            <a:ext cx="320040" cy="256032"/>
          </a:xfrm>
          <a:prstGeom prst="triangle">
            <a:avLst/>
          </a:prstGeom>
          <a:solidFill>
            <a:srgbClr val="FBEFE9"/>
          </a:solidFill>
          <a:ln/>
        </p:spPr>
        <p:txBody>
          <a:bodyPr/>
          <a:lstStyle/>
          <a:p>
            <a:endParaRPr/>
          </a:p>
        </p:txBody>
      </p:sp>
      <p:sp>
        <p:nvSpPr>
          <p:cNvPr id="10" name="Text 6"/>
          <p:cNvSpPr/>
          <p:nvPr/>
        </p:nvSpPr>
        <p:spPr>
          <a:xfrm>
            <a:off x="7936992" y="4800600"/>
            <a:ext cx="3465576" cy="1051560"/>
          </a:xfrm>
          <a:prstGeom prst="rect">
            <a:avLst/>
          </a:prstGeom>
          <a:noFill/>
          <a:ln/>
        </p:spPr>
        <p:txBody>
          <a:bodyPr wrap="square" lIns="0" tIns="0" rIns="0" bIns="0" rtlCol="0" anchor="ctr"/>
          <a:lstStyle/>
          <a:p>
            <a:pPr marL="0" indent="0" algn="l">
              <a:buNone/>
            </a:pPr>
            <a:r>
              <a:rPr lang="en-US" sz="1250" i="1" dirty="0">
                <a:solidFill>
                  <a:srgbClr val="1A1A1A"/>
                </a:solidFill>
                <a:latin typeface="Segoe UI" pitchFamily="34" charset="0"/>
                <a:ea typeface="Segoe UI" pitchFamily="34" charset="-122"/>
                <a:cs typeface="Segoe UI" pitchFamily="34" charset="-120"/>
              </a:rPr>
              <a:t>«Es antwortet mir wie ein Mensch — und nur mit euren echten Zahlen.»</a:t>
            </a:r>
            <a:endParaRPr lang="en-US" sz="1250" dirty="0"/>
          </a:p>
        </p:txBody>
      </p:sp>
      <p:sp>
        <p:nvSpPr>
          <p:cNvPr id="11" name="Text 7"/>
          <p:cNvSpPr/>
          <p:nvPr/>
        </p:nvSpPr>
        <p:spPr>
          <a:xfrm>
            <a:off x="640080" y="5897880"/>
            <a:ext cx="6766560" cy="548640"/>
          </a:xfrm>
          <a:prstGeom prst="rect">
            <a:avLst/>
          </a:prstGeom>
          <a:noFill/>
          <a:ln/>
        </p:spPr>
        <p:txBody>
          <a:bodyPr wrap="square" rtlCol="0" anchor="ctr"/>
          <a:lstStyle/>
          <a:p>
            <a:pPr marL="0" indent="0">
              <a:buNone/>
            </a:pPr>
            <a:r>
              <a:rPr lang="en-US" sz="1200" i="1" dirty="0">
                <a:solidFill>
                  <a:srgbClr val="595959"/>
                </a:solidFill>
                <a:latin typeface="Segoe UI" pitchFamily="34" charset="0"/>
                <a:ea typeface="Segoe UI" pitchFamily="34" charset="-122"/>
                <a:cs typeface="Segoe UI" pitchFamily="34" charset="-120"/>
              </a:rPr>
              <a:t>Erst eine Beispiel-Frage anklicken, dann selbst tippen. Zum Schluss zeigt der Über-Tab transparent alle Datenquellen und Lizenzen.</a:t>
            </a:r>
            <a:endParaRPr lang="en-US" sz="1200" dirty="0"/>
          </a:p>
        </p:txBody>
      </p:sp>
      <p:sp>
        <p:nvSpPr>
          <p:cNvPr id="12" name="Text 8"/>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3" name="Text 9"/>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4"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Webapp — Verspätungs-Hotspots auf der Karte</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ebapp_01_karte.png"/>
          <p:cNvPicPr>
            <a:picLocks noChangeAspect="1"/>
          </p:cNvPicPr>
          <p:nvPr/>
        </p:nvPicPr>
        <p:blipFill>
          <a:blip r:embed="rId3"/>
          <a:stretch>
            <a:fillRect/>
          </a:stretch>
        </p:blipFill>
        <p:spPr>
          <a:xfrm>
            <a:off x="2474823" y="1371600"/>
            <a:ext cx="7242048" cy="4526280"/>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Folium-Karte. Farbe = mittlere Verspätung. Mit dem Hotspot-Regler bleiben nur die kritischen Bahnhöfe übrig.</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Webapp — Pendler-Insight (Sprachmodell)</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ebapp_03_pendler_insight.png"/>
          <p:cNvPicPr>
            <a:picLocks noChangeAspect="1"/>
          </p:cNvPicPr>
          <p:nvPr/>
        </p:nvPicPr>
        <p:blipFill>
          <a:blip r:embed="rId3"/>
          <a:stretch>
            <a:fillRect/>
          </a:stretch>
        </p:blipFill>
        <p:spPr>
          <a:xfrm>
            <a:off x="2474823" y="1371600"/>
            <a:ext cx="7242048" cy="4526280"/>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Der Berater antwortet nur mit den Zahlen aus unseren Daten — er erfindet nichts dazu.</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Sprachmodell — Analyse der Krisen-Tage</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Claude klassifiziert die 10 verspätungsreichsten Tage nach Ursache</a:t>
            </a:r>
          </a:p>
          <a:p>
            <a:pPr algn="l">
              <a:spcAft>
                <a:spcPts val="800"/>
              </a:spcAft>
            </a:pPr>
            <a:r>
              <a:rPr sz="1800" b="0">
                <a:solidFill>
                  <a:srgbClr val="1A1A1A"/>
                </a:solidFill>
                <a:latin typeface="Segoe UI"/>
              </a:rPr>
              <a:t>•  Feste Auswahl an Kategorien (Wetter, Rush-Hour, Bahnhof-Ausfall, Bau …)</a:t>
            </a:r>
          </a:p>
          <a:p>
            <a:pPr algn="l">
              <a:spcAft>
                <a:spcPts val="800"/>
              </a:spcAft>
            </a:pPr>
            <a:r>
              <a:rPr sz="1800" b="0">
                <a:solidFill>
                  <a:srgbClr val="1A1A1A"/>
                </a:solidFill>
                <a:latin typeface="Segoe UI"/>
              </a:rPr>
              <a:t>•  Niedrige 'Temperatur' (0.2) + Anweisung 'erfinde nichts' + Konfidenz-Angabe</a:t>
            </a:r>
          </a:p>
          <a:p>
            <a:pPr algn="l">
              <a:spcAft>
                <a:spcPts val="800"/>
              </a:spcAft>
            </a:pPr>
            <a:r>
              <a:rPr sz="1800" b="0">
                <a:solidFill>
                  <a:srgbClr val="1A1A1A"/>
                </a:solidFill>
                <a:latin typeface="Segoe UI"/>
              </a:rPr>
              <a:t>•  Ehrlich: keine harte Verifikation — es sind qualitative Hypothesen</a:t>
            </a:r>
          </a:p>
          <a:p>
            <a:pPr lvl="1" algn="l">
              <a:spcAft>
                <a:spcPts val="800"/>
              </a:spcAft>
            </a:pPr>
            <a:r>
              <a:rPr sz="1500" b="0">
                <a:solidFill>
                  <a:srgbClr val="595959"/>
                </a:solidFill>
                <a:latin typeface="Segoe UI"/>
              </a:rPr>
              <a:t>–  geplant: Abgleich mit Schweizer News (Factiva) als Gegenprobe</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Limitationen</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Beobachtungen nicht unabhängig (gleicher Zug/Bahnhof/Tag) — Pseudoreplikation</a:t>
            </a:r>
          </a:p>
          <a:p>
            <a:pPr lvl="1" algn="l">
              <a:spcAft>
                <a:spcPts val="800"/>
              </a:spcAft>
            </a:pPr>
            <a:r>
              <a:rPr sz="1500" b="0">
                <a:solidFill>
                  <a:srgbClr val="595959"/>
                </a:solidFill>
                <a:latin typeface="Segoe UI"/>
              </a:rPr>
              <a:t>–  dagegen: Tagesmittel-Gegencheck + Fokus auf Effektstärken</a:t>
            </a:r>
          </a:p>
          <a:p>
            <a:pPr algn="l">
              <a:spcAft>
                <a:spcPts val="800"/>
              </a:spcAft>
            </a:pPr>
            <a:r>
              <a:rPr sz="1800" b="0">
                <a:solidFill>
                  <a:srgbClr val="1A1A1A"/>
                </a:solidFill>
                <a:latin typeface="Segoe UI"/>
              </a:rPr>
              <a:t>•  Nur 48 Tage im Frühling — keine Saisonalität (Winter, Bausaison fehlen)</a:t>
            </a:r>
          </a:p>
          <a:p>
            <a:pPr algn="l">
              <a:spcAft>
                <a:spcPts val="800"/>
              </a:spcAft>
            </a:pPr>
            <a:r>
              <a:rPr sz="1800" b="0">
                <a:solidFill>
                  <a:srgbClr val="1A1A1A"/>
                </a:solidFill>
                <a:latin typeface="Segoe UI"/>
              </a:rPr>
              <a:t>•  Nur SBB; Wetter-Station bis ~40 km entfernt (Mikroklima geht verloren)</a:t>
            </a:r>
          </a:p>
          <a:p>
            <a:pPr algn="l">
              <a:spcAft>
                <a:spcPts val="800"/>
              </a:spcAft>
            </a:pPr>
            <a:r>
              <a:rPr sz="1800" b="0">
                <a:solidFill>
                  <a:srgbClr val="1A1A1A"/>
                </a:solidFill>
                <a:latin typeface="Segoe UI"/>
              </a:rPr>
              <a:t>•  Korrelation ist nicht Kausalität (mögliche versteckte Faktoren)</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Schlussfolgerungen</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Die SBB ist sehr pünktlich (~95 % unter 3 Minuten) und räumlich stabil</a:t>
            </a:r>
          </a:p>
          <a:p>
            <a:pPr algn="l">
              <a:spcAft>
                <a:spcPts val="800"/>
              </a:spcAft>
            </a:pPr>
            <a:r>
              <a:rPr sz="1800" b="0">
                <a:solidFill>
                  <a:srgbClr val="1A1A1A"/>
                </a:solidFill>
                <a:latin typeface="Segoe UI"/>
              </a:rPr>
              <a:t>•  Tag, Linientyp und Wetter wirken messbar, aber praktisch klein</a:t>
            </a:r>
          </a:p>
          <a:p>
            <a:pPr algn="l">
              <a:spcAft>
                <a:spcPts val="800"/>
              </a:spcAft>
            </a:pPr>
            <a:r>
              <a:rPr sz="1800" b="0">
                <a:solidFill>
                  <a:srgbClr val="1A1A1A"/>
                </a:solidFill>
                <a:latin typeface="Segoe UI"/>
              </a:rPr>
              <a:t>•  Verspätung ist überwiegend idiosynkratisch (Modell erklärt nur ~4 %)</a:t>
            </a:r>
          </a:p>
          <a:p>
            <a:pPr algn="l">
              <a:spcAft>
                <a:spcPts val="800"/>
              </a:spcAft>
            </a:pPr>
            <a:r>
              <a:rPr sz="1800" b="0">
                <a:solidFill>
                  <a:srgbClr val="1A1A1A"/>
                </a:solidFill>
                <a:latin typeface="Segoe UI"/>
              </a:rPr>
              <a:t>•  Die grössten Hotspots sind Grenzbahnhöfe (Import-Effekt aus dem Ausland)</a:t>
            </a:r>
          </a:p>
          <a:p>
            <a:pPr algn="l">
              <a:spcAft>
                <a:spcPts val="800"/>
              </a:spcAft>
            </a:pPr>
            <a:r>
              <a:rPr sz="1800" b="0">
                <a:solidFill>
                  <a:srgbClr val="1A1A1A"/>
                </a:solidFill>
                <a:latin typeface="Segoe UI"/>
              </a:rPr>
              <a:t>•  Mehrwert: Webapp und Sprachmodell machen die Daten zugänglich</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Quellen, Code und Reproduzierbarkeit</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Daten: opentransportdata.swiss · data.sbb.ch · MeteoSchweiz (alle CC-BY)</a:t>
            </a:r>
          </a:p>
          <a:p>
            <a:pPr algn="l">
              <a:spcAft>
                <a:spcPts val="800"/>
              </a:spcAft>
            </a:pPr>
            <a:r>
              <a:rPr sz="1800" b="0">
                <a:solidFill>
                  <a:srgbClr val="1A1A1A"/>
                </a:solidFill>
                <a:latin typeface="Segoe UI"/>
              </a:rPr>
              <a:t>•  Code (MIT-Lizenz): github.com/Mrgincinamon/SBB-Tracking</a:t>
            </a:r>
          </a:p>
          <a:p>
            <a:pPr algn="l">
              <a:spcAft>
                <a:spcPts val="800"/>
              </a:spcAft>
            </a:pPr>
            <a:r>
              <a:rPr sz="1800" b="0">
                <a:solidFill>
                  <a:srgbClr val="1A1A1A"/>
                </a:solidFill>
                <a:latin typeface="Segoe UI"/>
              </a:rPr>
              <a:t>•  Vollständig reproduzierbar: requirements.txt + Build-Skripte</a:t>
            </a:r>
          </a:p>
          <a:p>
            <a:pPr algn="l">
              <a:spcAft>
                <a:spcPts val="800"/>
              </a:spcAft>
            </a:pPr>
            <a:r>
              <a:rPr sz="1800" b="0">
                <a:solidFill>
                  <a:srgbClr val="1A1A1A"/>
                </a:solidFill>
                <a:latin typeface="Segoe UI"/>
              </a:rPr>
              <a:t>•  Stack: Python 3.12 · pandas/scipy/statsmodels · SQLite · Streamlit · Anthropic</a:t>
            </a:r>
          </a:p>
          <a:p>
            <a:pPr algn="l">
              <a:spcAft>
                <a:spcPts val="800"/>
              </a:spcAft>
            </a:pPr>
            <a:r>
              <a:rPr sz="1800" b="0">
                <a:solidFill>
                  <a:srgbClr val="1A1A1A"/>
                </a:solidFill>
                <a:latin typeface="Segoe UI"/>
              </a:rPr>
              <a:t>•  Vielen Dank — gerne Fragen!</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3828</Words>
  <Application>Microsoft Office PowerPoint</Application>
  <PresentationFormat>Breitbild</PresentationFormat>
  <Paragraphs>279</Paragraphs>
  <Slides>22</Slides>
  <Notes>22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22</vt:i4>
      </vt:variant>
    </vt:vector>
  </HeadingPairs>
  <TitlesOfParts>
    <vt:vector size="26" baseType="lpstr">
      <vt:lpstr>Arial</vt:lpstr>
      <vt:lpstr>Calibri</vt:lpstr>
      <vt:lpstr>Segoe UI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Joël H</dc:creator>
  <cp:keywords/>
  <dc:description>generated using python-pptx</dc:description>
  <cp:lastModifiedBy>Hasler Joël (haslejoe)</cp:lastModifiedBy>
  <cp:revision>1</cp:revision>
  <dcterms:created xsi:type="dcterms:W3CDTF">2013-01-27T09:14:16Z</dcterms:created>
  <dcterms:modified xsi:type="dcterms:W3CDTF">2026-05-22T10:19:09Z</dcterms:modified>
  <cp:category/>
</cp:coreProperties>
</file>